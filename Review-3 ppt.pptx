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2"/>
  </p:notesMasterIdLst>
  <p:sldIdLst>
    <p:sldId id="256" r:id="rId2"/>
    <p:sldId id="287" r:id="rId3"/>
    <p:sldId id="294" r:id="rId4"/>
    <p:sldId id="295" r:id="rId5"/>
    <p:sldId id="296" r:id="rId6"/>
    <p:sldId id="297" r:id="rId7"/>
    <p:sldId id="299" r:id="rId8"/>
    <p:sldId id="298" r:id="rId9"/>
    <p:sldId id="265" r:id="rId10"/>
    <p:sldId id="266"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559" autoAdjust="0"/>
    <p:restoredTop sz="94660"/>
  </p:normalViewPr>
  <p:slideViewPr>
    <p:cSldViewPr snapToGrid="0">
      <p:cViewPr varScale="1">
        <p:scale>
          <a:sx n="90" d="100"/>
          <a:sy n="90" d="100"/>
        </p:scale>
        <p:origin x="64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2">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IN" sz="1600" dirty="0"/>
              <a:t>Image Correctness For a Product on Marketplace</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a:t>
            </a:r>
            <a:r>
              <a:rPr lang="en-IN" sz="1600" dirty="0"/>
              <a:t>CIT_10</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677700" y="3086079"/>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US"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lang="en-US"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lang="en-US"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ctr" rtl="0">
              <a:spcBef>
                <a:spcPts val="340"/>
              </a:spcBef>
              <a:spcAft>
                <a:spcPts val="0"/>
              </a:spcAft>
              <a:buClr>
                <a:srgbClr val="17365D"/>
              </a:buClr>
              <a:buSzPts val="1700"/>
              <a:buFont typeface="Arial"/>
              <a:buNone/>
            </a:pPr>
            <a:r>
              <a:rPr lang="en-US" sz="2000" dirty="0"/>
              <a:t> </a:t>
            </a:r>
            <a:r>
              <a:rPr lang="en-US" sz="2000" dirty="0">
                <a:latin typeface="Times New Roman" panose="02020603050405020304" pitchFamily="18" charset="0"/>
                <a:cs typeface="Times New Roman" panose="02020603050405020304" pitchFamily="18" charset="0"/>
              </a:rPr>
              <a:t>Guide : </a:t>
            </a:r>
            <a:r>
              <a:rPr lang="en-US" sz="2000" dirty="0" err="1">
                <a:latin typeface="Times New Roman" panose="02020603050405020304" pitchFamily="18" charset="0"/>
                <a:cs typeface="Times New Roman" panose="02020603050405020304" pitchFamily="18" charset="0"/>
              </a:rPr>
              <a:t>Ms.Shivabasamma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Beli</a:t>
            </a:r>
            <a:endParaRPr lang="en-US" sz="2000" dirty="0">
              <a:latin typeface="Times New Roman" panose="02020603050405020304" pitchFamily="18" charset="0"/>
              <a:cs typeface="Times New Roman" panose="02020603050405020304" pitchFamily="18" charset="0"/>
            </a:endParaRPr>
          </a:p>
          <a:p>
            <a:pPr marL="0" marR="0" lvl="0" indent="0" algn="ctr" rtl="0">
              <a:spcBef>
                <a:spcPts val="340"/>
              </a:spcBef>
              <a:spcAft>
                <a:spcPts val="0"/>
              </a:spcAft>
              <a:buClr>
                <a:srgbClr val="17365D"/>
              </a:buClr>
              <a:buSzPts val="1700"/>
              <a:buFont typeface="Arial"/>
              <a:buNone/>
            </a:pPr>
            <a:r>
              <a:rPr lang="en-IN" sz="2000" dirty="0">
                <a:latin typeface="Times New Roman" panose="02020603050405020304" pitchFamily="18" charset="0"/>
                <a:cs typeface="Times New Roman" panose="02020603050405020304" pitchFamily="18" charset="0"/>
              </a:rPr>
              <a:t> Reviewer : </a:t>
            </a:r>
            <a:r>
              <a:rPr lang="en-IN" sz="2000" dirty="0" err="1">
                <a:latin typeface="Times New Roman" panose="02020603050405020304" pitchFamily="18" charset="0"/>
                <a:cs typeface="Times New Roman" panose="02020603050405020304" pitchFamily="18" charset="0"/>
              </a:rPr>
              <a:t>Mr.Tanveer</a:t>
            </a:r>
            <a:r>
              <a:rPr lang="en-IN" sz="2000" dirty="0">
                <a:latin typeface="Times New Roman" panose="02020603050405020304" pitchFamily="18" charset="0"/>
                <a:cs typeface="Times New Roman" panose="02020603050405020304" pitchFamily="18" charset="0"/>
              </a:rPr>
              <a:t> Ahmed</a:t>
            </a:r>
            <a:endParaRPr lang="en-US" sz="2000" dirty="0">
              <a:latin typeface="Times New Roman" panose="02020603050405020304" pitchFamily="18" charset="0"/>
              <a:cs typeface="Times New Roman" panose="02020603050405020304" pitchFamily="18" charset="0"/>
            </a:endParaRPr>
          </a:p>
          <a:p>
            <a:pPr marL="0" marR="0" lvl="0" indent="0" algn="l" rtl="0">
              <a:spcBef>
                <a:spcPts val="340"/>
              </a:spcBef>
              <a:spcAft>
                <a:spcPts val="0"/>
              </a:spcAft>
              <a:buClr>
                <a:srgbClr val="17365D"/>
              </a:buClr>
              <a:buSzPts val="1700"/>
              <a:buFont typeface="Arial"/>
              <a:buNone/>
            </a:pPr>
            <a:endParaRPr lang="en-US" dirty="0">
              <a:latin typeface="Cambria" panose="02040503050406030204" pitchFamily="18" charset="0"/>
              <a:ea typeface="Cambria" panose="02040503050406030204" pitchFamily="18" charset="0"/>
            </a:endParaRPr>
          </a:p>
        </p:txBody>
      </p:sp>
      <p:graphicFrame>
        <p:nvGraphicFramePr>
          <p:cNvPr id="89" name="Google Shape;89;p13"/>
          <p:cNvGraphicFramePr/>
          <p:nvPr>
            <p:extLst>
              <p:ext uri="{D42A27DB-BD31-4B8C-83A1-F6EECF244321}">
                <p14:modId xmlns:p14="http://schemas.microsoft.com/office/powerpoint/2010/main" val="2854632182"/>
              </p:ext>
            </p:extLst>
          </p:nvPr>
        </p:nvGraphicFramePr>
        <p:xfrm>
          <a:off x="553347" y="2721840"/>
          <a:ext cx="5418675" cy="146308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59120" y="11851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Review-3</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807402" y="4730122"/>
            <a:ext cx="12249915" cy="1562100"/>
          </a:xfrm>
          <a:prstGeom prst="rect">
            <a:avLst/>
          </a:prstGeom>
          <a:noFill/>
          <a:ln>
            <a:noFill/>
          </a:ln>
        </p:spPr>
        <p:txBody>
          <a:bodyPr spcFirstLastPara="1" wrap="square" lIns="91425" tIns="45700" rIns="91425" bIns="45700" anchor="t" anchorCtr="0">
            <a:noAutofit/>
          </a:bodyPr>
          <a:lstStyle/>
          <a:p>
            <a:pPr>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err="1">
                <a:solidFill>
                  <a:schemeClr val="bg2">
                    <a:lumMod val="75000"/>
                  </a:schemeClr>
                </a:solidFill>
                <a:latin typeface="Cambria" panose="02040503050406030204" pitchFamily="18" charset="0"/>
                <a:ea typeface="Cambria" panose="02040503050406030204" pitchFamily="18" charset="0"/>
                <a:cs typeface="Verdana"/>
                <a:sym typeface="Verdana"/>
              </a:rPr>
              <a:t>DrS</a:t>
            </a:r>
            <a:r>
              <a:rPr lang="en-US" sz="1800" b="1" dirty="0">
                <a:solidFill>
                  <a:schemeClr val="bg2">
                    <a:lumMod val="75000"/>
                  </a:schemeClr>
                </a:solidFill>
                <a:latin typeface="Cambria" panose="02040503050406030204" pitchFamily="18" charset="0"/>
                <a:ea typeface="Cambria" panose="02040503050406030204" pitchFamily="18" charset="0"/>
                <a:cs typeface="Verdana"/>
                <a:sym typeface="Verdana"/>
              </a:rPr>
              <a:t> P </a:t>
            </a:r>
            <a:r>
              <a:rPr lang="en-US" sz="1800" b="1" dirty="0" err="1">
                <a:solidFill>
                  <a:schemeClr val="bg2">
                    <a:lumMod val="75000"/>
                  </a:schemeClr>
                </a:solidFill>
                <a:latin typeface="Cambria" panose="02040503050406030204" pitchFamily="18" charset="0"/>
                <a:ea typeface="Cambria" panose="02040503050406030204" pitchFamily="18" charset="0"/>
                <a:cs typeface="Verdana"/>
                <a:sym typeface="Verdana"/>
              </a:rPr>
              <a:t>Anandaraj</a:t>
            </a:r>
            <a:r>
              <a:rPr lang="en-US" sz="1800" b="1" dirty="0">
                <a:solidFill>
                  <a:schemeClr val="bg2">
                    <a:lumMod val="75000"/>
                  </a:schemeClr>
                </a:solidFill>
                <a:latin typeface="Cambria" panose="02040503050406030204" pitchFamily="18" charset="0"/>
                <a:ea typeface="Cambria" panose="02040503050406030204" pitchFamily="18" charset="0"/>
                <a:cs typeface="Verdana"/>
                <a:sym typeface="Verdana"/>
              </a:rPr>
              <a:t> Sir</a:t>
            </a:r>
          </a:p>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graphicFrame>
        <p:nvGraphicFramePr>
          <p:cNvPr id="2" name="Table 2">
            <a:extLst>
              <a:ext uri="{FF2B5EF4-FFF2-40B4-BE49-F238E27FC236}">
                <a16:creationId xmlns:a16="http://schemas.microsoft.com/office/drawing/2014/main" id="{643DEA42-318C-4C31-8E68-0F4B86CB7F70}"/>
              </a:ext>
            </a:extLst>
          </p:cNvPr>
          <p:cNvGraphicFramePr>
            <a:graphicFrameLocks noGrp="1"/>
          </p:cNvGraphicFramePr>
          <p:nvPr>
            <p:extLst>
              <p:ext uri="{D42A27DB-BD31-4B8C-83A1-F6EECF244321}">
                <p14:modId xmlns:p14="http://schemas.microsoft.com/office/powerpoint/2010/main" val="3195872769"/>
              </p:ext>
            </p:extLst>
          </p:nvPr>
        </p:nvGraphicFramePr>
        <p:xfrm>
          <a:off x="974849" y="2958675"/>
          <a:ext cx="5150303" cy="1562100"/>
        </p:xfrm>
        <a:graphic>
          <a:graphicData uri="http://schemas.openxmlformats.org/drawingml/2006/table">
            <a:tbl>
              <a:tblPr firstRow="1" bandRow="1"/>
              <a:tblGrid>
                <a:gridCol w="2487786">
                  <a:extLst>
                    <a:ext uri="{9D8B030D-6E8A-4147-A177-3AD203B41FA5}">
                      <a16:colId xmlns:a16="http://schemas.microsoft.com/office/drawing/2014/main" val="3102227351"/>
                    </a:ext>
                  </a:extLst>
                </a:gridCol>
                <a:gridCol w="2662517">
                  <a:extLst>
                    <a:ext uri="{9D8B030D-6E8A-4147-A177-3AD203B41FA5}">
                      <a16:colId xmlns:a16="http://schemas.microsoft.com/office/drawing/2014/main" val="2243004137"/>
                    </a:ext>
                  </a:extLst>
                </a:gridCol>
              </a:tblGrid>
              <a:tr h="390525">
                <a:tc>
                  <a:txBody>
                    <a:bodyPr/>
                    <a:lstStyle/>
                    <a:p>
                      <a:pPr algn="ctr"/>
                      <a:r>
                        <a:rPr lang="en-US" b="1" dirty="0">
                          <a:latin typeface="Times New Roman" panose="02020603050405020304" pitchFamily="18" charset="0"/>
                          <a:cs typeface="Times New Roman" panose="02020603050405020304" pitchFamily="18" charset="0"/>
                        </a:rPr>
                        <a:t>ROLL NUMBER</a:t>
                      </a:r>
                      <a:endParaRPr lang="en-IN" b="1" dirty="0">
                        <a:latin typeface="Times New Roman" panose="02020603050405020304" pitchFamily="18" charset="0"/>
                        <a:cs typeface="Times New Roman" panose="02020603050405020304" pitchFamily="18" charset="0"/>
                      </a:endParaRPr>
                    </a:p>
                  </a:txBody>
                  <a:tcPr>
                    <a:solidFill>
                      <a:schemeClr val="bg2">
                        <a:lumMod val="40000"/>
                        <a:lumOff val="60000"/>
                      </a:schemeClr>
                    </a:solidFill>
                  </a:tcPr>
                </a:tc>
                <a:tc>
                  <a:txBody>
                    <a:bodyPr/>
                    <a:lstStyle/>
                    <a:p>
                      <a:pPr algn="ctr"/>
                      <a:r>
                        <a:rPr lang="en-US" b="1" dirty="0">
                          <a:latin typeface="Times New Roman" panose="02020603050405020304" pitchFamily="18" charset="0"/>
                          <a:cs typeface="Times New Roman" panose="02020603050405020304" pitchFamily="18" charset="0"/>
                        </a:rPr>
                        <a:t>STUDENT NAME</a:t>
                      </a:r>
                      <a:endParaRPr lang="en-IN" b="1" dirty="0">
                        <a:latin typeface="Times New Roman" panose="02020603050405020304" pitchFamily="18" charset="0"/>
                        <a:cs typeface="Times New Roman" panose="02020603050405020304" pitchFamily="18" charset="0"/>
                      </a:endParaRPr>
                    </a:p>
                  </a:txBody>
                  <a:tcPr>
                    <a:solidFill>
                      <a:schemeClr val="bg2">
                        <a:lumMod val="40000"/>
                        <a:lumOff val="60000"/>
                      </a:schemeClr>
                    </a:solidFill>
                  </a:tcPr>
                </a:tc>
                <a:extLst>
                  <a:ext uri="{0D108BD9-81ED-4DB2-BD59-A6C34878D82A}">
                    <a16:rowId xmlns:a16="http://schemas.microsoft.com/office/drawing/2014/main" val="3452763774"/>
                  </a:ext>
                </a:extLst>
              </a:tr>
              <a:tr h="390525">
                <a:tc>
                  <a:txBody>
                    <a:bodyPr/>
                    <a:lstStyle/>
                    <a:p>
                      <a:pPr algn="ctr"/>
                      <a:r>
                        <a:rPr lang="en-US" dirty="0">
                          <a:latin typeface="Times New Roman" panose="02020603050405020304" pitchFamily="18" charset="0"/>
                          <a:cs typeface="Times New Roman" panose="02020603050405020304" pitchFamily="18" charset="0"/>
                        </a:rPr>
                        <a:t>20221CIT0048</a:t>
                      </a:r>
                      <a:endParaRPr lang="en-IN" dirty="0">
                        <a:latin typeface="Times New Roman" panose="02020603050405020304" pitchFamily="18" charset="0"/>
                        <a:cs typeface="Times New Roman" panose="02020603050405020304" pitchFamily="18" charset="0"/>
                      </a:endParaRPr>
                    </a:p>
                  </a:txBody>
                  <a:tcPr>
                    <a:solidFill>
                      <a:schemeClr val="bg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anose="02020603050405020304" pitchFamily="18" charset="0"/>
                          <a:cs typeface="Times New Roman" panose="02020603050405020304" pitchFamily="18" charset="0"/>
                        </a:rPr>
                        <a:t>B DEEKSHITHA</a:t>
                      </a:r>
                      <a:endParaRPr lang="en-IN" dirty="0">
                        <a:latin typeface="Times New Roman" panose="02020603050405020304" pitchFamily="18" charset="0"/>
                        <a:cs typeface="Times New Roman" panose="02020603050405020304" pitchFamily="18" charset="0"/>
                      </a:endParaRPr>
                    </a:p>
                  </a:txBody>
                  <a:tcPr>
                    <a:solidFill>
                      <a:schemeClr val="bg2">
                        <a:lumMod val="40000"/>
                        <a:lumOff val="60000"/>
                      </a:schemeClr>
                    </a:solidFill>
                  </a:tcPr>
                </a:tc>
                <a:extLst>
                  <a:ext uri="{0D108BD9-81ED-4DB2-BD59-A6C34878D82A}">
                    <a16:rowId xmlns:a16="http://schemas.microsoft.com/office/drawing/2014/main" val="2537968155"/>
                  </a:ext>
                </a:extLst>
              </a:tr>
              <a:tr h="390525">
                <a:tc>
                  <a:txBody>
                    <a:bodyPr/>
                    <a:lstStyle/>
                    <a:p>
                      <a:pPr algn="ctr"/>
                      <a:r>
                        <a:rPr lang="en-US" dirty="0">
                          <a:latin typeface="Times New Roman" panose="02020603050405020304" pitchFamily="18" charset="0"/>
                          <a:cs typeface="Times New Roman" panose="02020603050405020304" pitchFamily="18" charset="0"/>
                        </a:rPr>
                        <a:t>20221CIT0047</a:t>
                      </a:r>
                      <a:endParaRPr lang="en-IN" dirty="0">
                        <a:latin typeface="Times New Roman" panose="02020603050405020304" pitchFamily="18" charset="0"/>
                        <a:cs typeface="Times New Roman" panose="02020603050405020304" pitchFamily="18" charset="0"/>
                      </a:endParaRPr>
                    </a:p>
                  </a:txBody>
                  <a:tcPr>
                    <a:solidFill>
                      <a:schemeClr val="bg2">
                        <a:lumMod val="40000"/>
                        <a:lumOff val="60000"/>
                      </a:schemeClr>
                    </a:solidFill>
                  </a:tcPr>
                </a:tc>
                <a:tc>
                  <a:txBody>
                    <a:bodyPr/>
                    <a:lstStyle/>
                    <a:p>
                      <a:pPr algn="ctr"/>
                      <a:r>
                        <a:rPr lang="en-US" dirty="0">
                          <a:latin typeface="Times New Roman" panose="02020603050405020304" pitchFamily="18" charset="0"/>
                          <a:cs typeface="Times New Roman" panose="02020603050405020304" pitchFamily="18" charset="0"/>
                        </a:rPr>
                        <a:t>MANASA T</a:t>
                      </a:r>
                      <a:endParaRPr lang="en-IN" dirty="0">
                        <a:latin typeface="Times New Roman" panose="02020603050405020304" pitchFamily="18" charset="0"/>
                        <a:cs typeface="Times New Roman" panose="02020603050405020304" pitchFamily="18" charset="0"/>
                      </a:endParaRPr>
                    </a:p>
                  </a:txBody>
                  <a:tcPr>
                    <a:solidFill>
                      <a:schemeClr val="bg2">
                        <a:lumMod val="40000"/>
                        <a:lumOff val="60000"/>
                      </a:schemeClr>
                    </a:solidFill>
                  </a:tcPr>
                </a:tc>
                <a:extLst>
                  <a:ext uri="{0D108BD9-81ED-4DB2-BD59-A6C34878D82A}">
                    <a16:rowId xmlns:a16="http://schemas.microsoft.com/office/drawing/2014/main" val="3312924781"/>
                  </a:ext>
                </a:extLst>
              </a:tr>
              <a:tr h="390525">
                <a:tc>
                  <a:txBody>
                    <a:bodyPr/>
                    <a:lstStyle/>
                    <a:p>
                      <a:pPr algn="ctr"/>
                      <a:r>
                        <a:rPr lang="en-US" dirty="0">
                          <a:latin typeface="Times New Roman" panose="02020603050405020304" pitchFamily="18" charset="0"/>
                          <a:cs typeface="Times New Roman" panose="02020603050405020304" pitchFamily="18" charset="0"/>
                        </a:rPr>
                        <a:t>20221CIT0006</a:t>
                      </a:r>
                      <a:endParaRPr lang="en-IN" dirty="0">
                        <a:latin typeface="Times New Roman" panose="02020603050405020304" pitchFamily="18" charset="0"/>
                        <a:cs typeface="Times New Roman" panose="02020603050405020304" pitchFamily="18" charset="0"/>
                      </a:endParaRPr>
                    </a:p>
                  </a:txBody>
                  <a:tcPr>
                    <a:solidFill>
                      <a:schemeClr val="bg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anose="02020603050405020304" pitchFamily="18" charset="0"/>
                          <a:cs typeface="Times New Roman" panose="02020603050405020304" pitchFamily="18" charset="0"/>
                        </a:rPr>
                        <a:t>PR HEMESWAR RAJ</a:t>
                      </a:r>
                      <a:endParaRPr lang="en-IN" dirty="0">
                        <a:latin typeface="Times New Roman" panose="02020603050405020304" pitchFamily="18" charset="0"/>
                        <a:cs typeface="Times New Roman" panose="02020603050405020304" pitchFamily="18" charset="0"/>
                      </a:endParaRPr>
                    </a:p>
                  </a:txBody>
                  <a:tcPr>
                    <a:solidFill>
                      <a:schemeClr val="bg2">
                        <a:lumMod val="40000"/>
                        <a:lumOff val="60000"/>
                      </a:schemeClr>
                    </a:solidFill>
                  </a:tcPr>
                </a:tc>
                <a:extLst>
                  <a:ext uri="{0D108BD9-81ED-4DB2-BD59-A6C34878D82A}">
                    <a16:rowId xmlns:a16="http://schemas.microsoft.com/office/drawing/2014/main" val="3604236019"/>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3812C-FAC4-1197-2343-9BB7F6AC2750}"/>
              </a:ext>
            </a:extLst>
          </p:cNvPr>
          <p:cNvSpPr>
            <a:spLocks noGrp="1"/>
          </p:cNvSpPr>
          <p:nvPr>
            <p:ph type="title"/>
          </p:nvPr>
        </p:nvSpPr>
        <p:spPr/>
        <p:txBody>
          <a:bodyPr/>
          <a:lstStyle/>
          <a:p>
            <a:r>
              <a:rPr lang="en-US" dirty="0"/>
              <a:t>Abstract:</a:t>
            </a:r>
            <a:endParaRPr lang="en-IN" dirty="0"/>
          </a:p>
        </p:txBody>
      </p:sp>
      <p:sp>
        <p:nvSpPr>
          <p:cNvPr id="3" name="Text Placeholder 2">
            <a:extLst>
              <a:ext uri="{FF2B5EF4-FFF2-40B4-BE49-F238E27FC236}">
                <a16:creationId xmlns:a16="http://schemas.microsoft.com/office/drawing/2014/main" id="{218D1831-B571-C0C8-C497-E14769979BE5}"/>
              </a:ext>
            </a:extLst>
          </p:cNvPr>
          <p:cNvSpPr>
            <a:spLocks noGrp="1"/>
          </p:cNvSpPr>
          <p:nvPr>
            <p:ph type="body" idx="1"/>
          </p:nvPr>
        </p:nvSpPr>
        <p:spPr/>
        <p:txBody>
          <a:bodyPr>
            <a:normAutofit/>
          </a:bodyPr>
          <a:lstStyle/>
          <a:p>
            <a:r>
              <a:rPr lang="en-US" sz="2000" dirty="0">
                <a:latin typeface="Times New Roman" panose="02020603050405020304" pitchFamily="18" charset="0"/>
                <a:cs typeface="Times New Roman" panose="02020603050405020304" pitchFamily="18" charset="0"/>
              </a:rPr>
              <a:t>With the rapid growth of e-commerce marketplaces, the accuracy of product representation has become a critical factor in influencing customer decisions. Product images are the primary interface between the seller and the buyer. Incorrect or misleading images can lead to customer dissatisfaction, returns, and loss of trust. This study focuses on </a:t>
            </a:r>
            <a:r>
              <a:rPr lang="en-US" sz="2000" b="1" dirty="0">
                <a:latin typeface="Times New Roman" panose="02020603050405020304" pitchFamily="18" charset="0"/>
                <a:cs typeface="Times New Roman" panose="02020603050405020304" pitchFamily="18" charset="0"/>
              </a:rPr>
              <a:t>image correctness for products on marketplaces</a:t>
            </a:r>
            <a:r>
              <a:rPr lang="en-US" sz="2000" dirty="0">
                <a:latin typeface="Times New Roman" panose="02020603050405020304" pitchFamily="18" charset="0"/>
                <a:cs typeface="Times New Roman" panose="02020603050405020304" pitchFamily="18" charset="0"/>
              </a:rPr>
              <a:t>, proposing a system to automatically verify and validate product images against predefined standards. The system ensures that images are clear, high-quality, correctly oriented, and accurately depict the product. Using image processing and machine learning techniques, this framework can detect anomalies, misrepresentations, or guideline violations, thereby enhancing buyer confidence, improving sales conversion rates, and ensuring compliance with marketplace standards.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46915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5E9DC-AA81-846B-118C-E64F11952837}"/>
              </a:ext>
            </a:extLst>
          </p:cNvPr>
          <p:cNvSpPr>
            <a:spLocks noGrp="1"/>
          </p:cNvSpPr>
          <p:nvPr>
            <p:ph type="title"/>
          </p:nvPr>
        </p:nvSpPr>
        <p:spPr/>
        <p:txBody>
          <a:bodyPr/>
          <a:lstStyle/>
          <a:p>
            <a:r>
              <a:rPr lang="en-IN" dirty="0"/>
              <a:t>Literature Review:</a:t>
            </a:r>
          </a:p>
        </p:txBody>
      </p:sp>
      <p:sp>
        <p:nvSpPr>
          <p:cNvPr id="4" name="Rectangle 1">
            <a:extLst>
              <a:ext uri="{FF2B5EF4-FFF2-40B4-BE49-F238E27FC236}">
                <a16:creationId xmlns:a16="http://schemas.microsoft.com/office/drawing/2014/main" id="{E180EB45-1674-1132-EDDC-D69C18C549F6}"/>
              </a:ext>
            </a:extLst>
          </p:cNvPr>
          <p:cNvSpPr>
            <a:spLocks noGrp="1" noChangeArrowheads="1"/>
          </p:cNvSpPr>
          <p:nvPr>
            <p:ph type="body" idx="1"/>
          </p:nvPr>
        </p:nvSpPr>
        <p:spPr bwMode="auto">
          <a:xfrm>
            <a:off x="880532" y="982828"/>
            <a:ext cx="10913535" cy="5601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Importance of Product Images in E-Commerce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Studies indicate that 75–90% of online buyers rely primarily on product images to make purchase decisions.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Incorrect or misleading images result in higher product return rates and customer complaints.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Image Quality Assessment (IQA)</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methods of IQA rely on metrics like resolution, focus, brightness, and contrast.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Full-reference and no-reference IQA methods have been applied to detect low-quality images in e-commerce.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Image Verification in Marketplaces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Research emphasizes automated verification of images against product metadata using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deep learning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(CNN-based classifiers) and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object recognition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Systems have been proposed to detect inconsistencies like wrong colors, missing features, or counterfeit items.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Gap Analysis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Most prior systems focus either on image quality or basic object detection.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Few frameworks combine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quality assessment, compliance checks, and correctness validation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a unified marketplace environment.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980081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A472A-1A35-793B-6C79-758F4CDEE1ED}"/>
              </a:ext>
            </a:extLst>
          </p:cNvPr>
          <p:cNvSpPr>
            <a:spLocks noGrp="1"/>
          </p:cNvSpPr>
          <p:nvPr>
            <p:ph type="title"/>
          </p:nvPr>
        </p:nvSpPr>
        <p:spPr/>
        <p:txBody>
          <a:bodyPr/>
          <a:lstStyle/>
          <a:p>
            <a:r>
              <a:rPr lang="en-IN" dirty="0"/>
              <a:t>System Design:</a:t>
            </a:r>
          </a:p>
        </p:txBody>
      </p:sp>
      <p:sp>
        <p:nvSpPr>
          <p:cNvPr id="3" name="Text Placeholder 2">
            <a:extLst>
              <a:ext uri="{FF2B5EF4-FFF2-40B4-BE49-F238E27FC236}">
                <a16:creationId xmlns:a16="http://schemas.microsoft.com/office/drawing/2014/main" id="{F5F5D94A-4942-5C5A-4377-C51D713FE7E0}"/>
              </a:ext>
            </a:extLst>
          </p:cNvPr>
          <p:cNvSpPr>
            <a:spLocks noGrp="1"/>
          </p:cNvSpPr>
          <p:nvPr>
            <p:ph type="body" idx="1"/>
          </p:nvPr>
        </p:nvSpPr>
        <p:spPr/>
        <p:txBody>
          <a:bodyPr>
            <a:normAutofit/>
          </a:bodyPr>
          <a:lstStyle/>
          <a:p>
            <a:r>
              <a:rPr lang="en-US" sz="2000" dirty="0">
                <a:latin typeface="Times New Roman" panose="02020603050405020304" pitchFamily="18" charset="0"/>
                <a:cs typeface="Times New Roman" panose="02020603050405020304" pitchFamily="18" charset="0"/>
              </a:rPr>
              <a:t>The proposed system for image correctness includes </a:t>
            </a:r>
            <a:r>
              <a:rPr lang="en-US" sz="2000" b="1" dirty="0">
                <a:latin typeface="Times New Roman" panose="02020603050405020304" pitchFamily="18" charset="0"/>
                <a:cs typeface="Times New Roman" panose="02020603050405020304" pitchFamily="18" charset="0"/>
              </a:rPr>
              <a:t>three main layers</a:t>
            </a:r>
            <a:r>
              <a:rPr lang="en-US" sz="2000" dirty="0">
                <a:latin typeface="Times New Roman" panose="02020603050405020304" pitchFamily="18" charset="0"/>
                <a:cs typeface="Times New Roman" panose="02020603050405020304" pitchFamily="18" charset="0"/>
              </a:rPr>
              <a:t>:</a:t>
            </a:r>
          </a:p>
          <a:p>
            <a:r>
              <a:rPr lang="en-US" sz="2000" b="1" dirty="0">
                <a:latin typeface="Times New Roman" panose="02020603050405020304" pitchFamily="18" charset="0"/>
                <a:cs typeface="Times New Roman" panose="02020603050405020304" pitchFamily="18" charset="0"/>
              </a:rPr>
              <a:t>Input Layer</a:t>
            </a:r>
            <a:endParaRPr lang="en-US" sz="2000"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Receives product images uploaded by sellers.</a:t>
            </a:r>
          </a:p>
          <a:p>
            <a:pPr lvl="1"/>
            <a:r>
              <a:rPr lang="en-US" dirty="0">
                <a:latin typeface="Times New Roman" panose="02020603050405020304" pitchFamily="18" charset="0"/>
                <a:cs typeface="Times New Roman" panose="02020603050405020304" pitchFamily="18" charset="0"/>
              </a:rPr>
              <a:t>Metadata such as product name, category, color, size, and description is also inputted.</a:t>
            </a:r>
          </a:p>
          <a:p>
            <a:r>
              <a:rPr lang="en-US" sz="2000" b="1" dirty="0">
                <a:latin typeface="Times New Roman" panose="02020603050405020304" pitchFamily="18" charset="0"/>
                <a:cs typeface="Times New Roman" panose="02020603050405020304" pitchFamily="18" charset="0"/>
              </a:rPr>
              <a:t>Processing Layer</a:t>
            </a:r>
            <a:endParaRPr lang="en-US" sz="2000" dirty="0">
              <a:latin typeface="Times New Roman" panose="02020603050405020304" pitchFamily="18" charset="0"/>
              <a:cs typeface="Times New Roman" panose="02020603050405020304" pitchFamily="18" charset="0"/>
            </a:endParaRPr>
          </a:p>
          <a:p>
            <a:pPr lvl="1"/>
            <a:r>
              <a:rPr lang="en-US" b="1" dirty="0">
                <a:latin typeface="Times New Roman" panose="02020603050405020304" pitchFamily="18" charset="0"/>
                <a:cs typeface="Times New Roman" panose="02020603050405020304" pitchFamily="18" charset="0"/>
              </a:rPr>
              <a:t>Preprocessing:</a:t>
            </a:r>
            <a:r>
              <a:rPr lang="en-US" dirty="0">
                <a:latin typeface="Times New Roman" panose="02020603050405020304" pitchFamily="18" charset="0"/>
                <a:cs typeface="Times New Roman" panose="02020603050405020304" pitchFamily="18" charset="0"/>
              </a:rPr>
              <a:t> Resize, normalize, and enhance image quality.</a:t>
            </a:r>
          </a:p>
          <a:p>
            <a:pPr lvl="1"/>
            <a:r>
              <a:rPr lang="en-US" b="1" dirty="0">
                <a:latin typeface="Times New Roman" panose="02020603050405020304" pitchFamily="18" charset="0"/>
                <a:cs typeface="Times New Roman" panose="02020603050405020304" pitchFamily="18" charset="0"/>
              </a:rPr>
              <a:t>Feature Extraction:</a:t>
            </a:r>
            <a:r>
              <a:rPr lang="en-US" dirty="0">
                <a:latin typeface="Times New Roman" panose="02020603050405020304" pitchFamily="18" charset="0"/>
                <a:cs typeface="Times New Roman" panose="02020603050405020304" pitchFamily="18" charset="0"/>
              </a:rPr>
              <a:t> Detect key product attributes using deep learning models (e.g., CNN).</a:t>
            </a:r>
          </a:p>
          <a:p>
            <a:pPr lvl="1"/>
            <a:r>
              <a:rPr lang="en-US" b="1" dirty="0">
                <a:latin typeface="Times New Roman" panose="02020603050405020304" pitchFamily="18" charset="0"/>
                <a:cs typeface="Times New Roman" panose="02020603050405020304" pitchFamily="18" charset="0"/>
              </a:rPr>
              <a:t>Validation:</a:t>
            </a:r>
            <a:r>
              <a:rPr lang="en-US" dirty="0">
                <a:latin typeface="Times New Roman" panose="02020603050405020304" pitchFamily="18" charset="0"/>
                <a:cs typeface="Times New Roman" panose="02020603050405020304" pitchFamily="18" charset="0"/>
              </a:rPr>
              <a:t> Compare detected features with product metadata and marketplace guidelines.</a:t>
            </a:r>
          </a:p>
          <a:p>
            <a:pPr lvl="1"/>
            <a:r>
              <a:rPr lang="en-US" b="1" dirty="0">
                <a:latin typeface="Times New Roman" panose="02020603050405020304" pitchFamily="18" charset="0"/>
                <a:cs typeface="Times New Roman" panose="02020603050405020304" pitchFamily="18" charset="0"/>
              </a:rPr>
              <a:t>Quality Checks:</a:t>
            </a:r>
            <a:r>
              <a:rPr lang="en-US" dirty="0">
                <a:latin typeface="Times New Roman" panose="02020603050405020304" pitchFamily="18" charset="0"/>
                <a:cs typeface="Times New Roman" panose="02020603050405020304" pitchFamily="18" charset="0"/>
              </a:rPr>
              <a:t> Ensure resolution, brightness, orientation, and background standards.</a:t>
            </a:r>
          </a:p>
          <a:p>
            <a:r>
              <a:rPr lang="en-US" sz="2000" b="1" dirty="0">
                <a:latin typeface="Times New Roman" panose="02020603050405020304" pitchFamily="18" charset="0"/>
                <a:cs typeface="Times New Roman" panose="02020603050405020304" pitchFamily="18" charset="0"/>
              </a:rPr>
              <a:t>Output Layer</a:t>
            </a:r>
            <a:endParaRPr lang="en-US" sz="2000"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Provides a correctness report: Acceptable / Needs Revision.</a:t>
            </a:r>
          </a:p>
          <a:p>
            <a:pPr lvl="1"/>
            <a:r>
              <a:rPr lang="en-US" dirty="0">
                <a:latin typeface="Times New Roman" panose="02020603050405020304" pitchFamily="18" charset="0"/>
                <a:cs typeface="Times New Roman" panose="02020603050405020304" pitchFamily="18" charset="0"/>
              </a:rPr>
              <a:t>Suggests corrective actions for non-compliant images.</a:t>
            </a:r>
          </a:p>
          <a:p>
            <a:endParaRPr lang="en-IN" dirty="0"/>
          </a:p>
        </p:txBody>
      </p:sp>
    </p:spTree>
    <p:extLst>
      <p:ext uri="{BB962C8B-B14F-4D97-AF65-F5344CB8AC3E}">
        <p14:creationId xmlns:p14="http://schemas.microsoft.com/office/powerpoint/2010/main" val="30193755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BF7FA-84F4-E0CA-DA61-D56D0320E239}"/>
              </a:ext>
            </a:extLst>
          </p:cNvPr>
          <p:cNvSpPr>
            <a:spLocks noGrp="1"/>
          </p:cNvSpPr>
          <p:nvPr>
            <p:ph type="title"/>
          </p:nvPr>
        </p:nvSpPr>
        <p:spPr/>
        <p:txBody>
          <a:bodyPr/>
          <a:lstStyle/>
          <a:p>
            <a:r>
              <a:rPr lang="en-IN" dirty="0"/>
              <a:t>System Architecture:</a:t>
            </a:r>
          </a:p>
        </p:txBody>
      </p:sp>
      <p:pic>
        <p:nvPicPr>
          <p:cNvPr id="5" name="Picture 4">
            <a:extLst>
              <a:ext uri="{FF2B5EF4-FFF2-40B4-BE49-F238E27FC236}">
                <a16:creationId xmlns:a16="http://schemas.microsoft.com/office/drawing/2014/main" id="{00340F8E-F61B-1ECF-E498-5154FFEDA38F}"/>
              </a:ext>
            </a:extLst>
          </p:cNvPr>
          <p:cNvPicPr>
            <a:picLocks noChangeAspect="1"/>
          </p:cNvPicPr>
          <p:nvPr/>
        </p:nvPicPr>
        <p:blipFill>
          <a:blip r:embed="rId2"/>
          <a:stretch>
            <a:fillRect/>
          </a:stretch>
        </p:blipFill>
        <p:spPr>
          <a:xfrm>
            <a:off x="1955800" y="956732"/>
            <a:ext cx="7061200" cy="5626629"/>
          </a:xfrm>
          <a:prstGeom prst="rect">
            <a:avLst/>
          </a:prstGeom>
        </p:spPr>
      </p:pic>
    </p:spTree>
    <p:extLst>
      <p:ext uri="{BB962C8B-B14F-4D97-AF65-F5344CB8AC3E}">
        <p14:creationId xmlns:p14="http://schemas.microsoft.com/office/powerpoint/2010/main" val="39063555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5298B-D812-8409-F288-A360A8DB6B56}"/>
              </a:ext>
            </a:extLst>
          </p:cNvPr>
          <p:cNvSpPr>
            <a:spLocks noGrp="1"/>
          </p:cNvSpPr>
          <p:nvPr>
            <p:ph type="title"/>
          </p:nvPr>
        </p:nvSpPr>
        <p:spPr/>
        <p:txBody>
          <a:bodyPr/>
          <a:lstStyle/>
          <a:p>
            <a:r>
              <a:rPr lang="en-IN" dirty="0"/>
              <a:t>Algorithm Details:</a:t>
            </a:r>
          </a:p>
        </p:txBody>
      </p:sp>
      <p:sp>
        <p:nvSpPr>
          <p:cNvPr id="3" name="Text Placeholder 2">
            <a:extLst>
              <a:ext uri="{FF2B5EF4-FFF2-40B4-BE49-F238E27FC236}">
                <a16:creationId xmlns:a16="http://schemas.microsoft.com/office/drawing/2014/main" id="{7617ACC7-FC89-7F93-3DCA-97DC08EB0CF4}"/>
              </a:ext>
            </a:extLst>
          </p:cNvPr>
          <p:cNvSpPr>
            <a:spLocks noGrp="1"/>
          </p:cNvSpPr>
          <p:nvPr>
            <p:ph type="body" idx="1"/>
          </p:nvPr>
        </p:nvSpPr>
        <p:spPr>
          <a:xfrm>
            <a:off x="812799" y="829733"/>
            <a:ext cx="11379201" cy="6824133"/>
          </a:xfrm>
        </p:spPr>
        <p:txBody>
          <a:bodyPr>
            <a:noAutofit/>
          </a:bodyPr>
          <a:lstStyle/>
          <a:p>
            <a:r>
              <a:rPr lang="en-US" sz="2000" b="1" dirty="0">
                <a:latin typeface="Times New Roman" panose="02020603050405020304" pitchFamily="18" charset="0"/>
                <a:cs typeface="Times New Roman" panose="02020603050405020304" pitchFamily="18" charset="0"/>
              </a:rPr>
              <a:t>Algorithm: Image Correctness Verification</a:t>
            </a:r>
          </a:p>
          <a:p>
            <a:r>
              <a:rPr lang="en-US" sz="2000" b="1" dirty="0">
                <a:latin typeface="Times New Roman" panose="02020603050405020304" pitchFamily="18" charset="0"/>
                <a:cs typeface="Times New Roman" panose="02020603050405020304" pitchFamily="18" charset="0"/>
              </a:rPr>
              <a:t>Input:</a:t>
            </a:r>
            <a:r>
              <a:rPr lang="en-US" sz="2000" dirty="0">
                <a:latin typeface="Times New Roman" panose="02020603050405020304" pitchFamily="18" charset="0"/>
                <a:cs typeface="Times New Roman" panose="02020603050405020304" pitchFamily="18" charset="0"/>
              </a:rPr>
              <a:t> Product image I, Product metadata M</a:t>
            </a: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Output:</a:t>
            </a:r>
            <a:r>
              <a:rPr lang="en-US" sz="2000" dirty="0">
                <a:latin typeface="Times New Roman" panose="02020603050405020304" pitchFamily="18" charset="0"/>
                <a:cs typeface="Times New Roman" panose="02020603050405020304" pitchFamily="18" charset="0"/>
              </a:rPr>
              <a:t> Correctness report R</a:t>
            </a:r>
          </a:p>
          <a:p>
            <a:r>
              <a:rPr lang="en-US" sz="2000" b="1" dirty="0">
                <a:latin typeface="Times New Roman" panose="02020603050405020304" pitchFamily="18" charset="0"/>
                <a:cs typeface="Times New Roman" panose="02020603050405020304" pitchFamily="18" charset="0"/>
              </a:rPr>
              <a:t>Steps:</a:t>
            </a: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Preprocessing:</a:t>
            </a:r>
            <a:endParaRPr lang="en-US" sz="2000"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Resize image to standard dimensions.</a:t>
            </a:r>
          </a:p>
          <a:p>
            <a:pPr lvl="1"/>
            <a:r>
              <a:rPr lang="en-US" dirty="0">
                <a:latin typeface="Times New Roman" panose="02020603050405020304" pitchFamily="18" charset="0"/>
                <a:cs typeface="Times New Roman" panose="02020603050405020304" pitchFamily="18" charset="0"/>
              </a:rPr>
              <a:t>Apply histogram equalization for brightness and contrast adjustment.</a:t>
            </a:r>
          </a:p>
          <a:p>
            <a:pPr lvl="1"/>
            <a:r>
              <a:rPr lang="en-US" dirty="0">
                <a:latin typeface="Times New Roman" panose="02020603050405020304" pitchFamily="18" charset="0"/>
                <a:cs typeface="Times New Roman" panose="02020603050405020304" pitchFamily="18" charset="0"/>
              </a:rPr>
              <a:t>Remove noise using filters (Gaussian, Median).</a:t>
            </a:r>
          </a:p>
          <a:p>
            <a:r>
              <a:rPr lang="en-US" sz="2000" b="1" dirty="0">
                <a:latin typeface="Times New Roman" panose="02020603050405020304" pitchFamily="18" charset="0"/>
                <a:cs typeface="Times New Roman" panose="02020603050405020304" pitchFamily="18" charset="0"/>
              </a:rPr>
              <a:t>Feature Extraction:</a:t>
            </a:r>
            <a:endParaRPr lang="en-US" sz="2000"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Use CNN-based object detection (e.g., YOLO, Faster R-CNN) to identify key product features.</a:t>
            </a:r>
          </a:p>
          <a:p>
            <a:pPr lvl="1"/>
            <a:r>
              <a:rPr lang="en-US" dirty="0">
                <a:latin typeface="Times New Roman" panose="02020603050405020304" pitchFamily="18" charset="0"/>
                <a:cs typeface="Times New Roman" panose="02020603050405020304" pitchFamily="18" charset="0"/>
              </a:rPr>
              <a:t>Extract color, shape, size, and distinctive patterns.</a:t>
            </a:r>
          </a:p>
          <a:p>
            <a:r>
              <a:rPr lang="en-US" sz="2000" b="1" dirty="0">
                <a:latin typeface="Times New Roman" panose="02020603050405020304" pitchFamily="18" charset="0"/>
                <a:cs typeface="Times New Roman" panose="02020603050405020304" pitchFamily="18" charset="0"/>
              </a:rPr>
              <a:t>Metadata Matching:</a:t>
            </a:r>
            <a:endParaRPr lang="en-US" sz="2000"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Compare extracted features with product metadata.</a:t>
            </a:r>
          </a:p>
          <a:p>
            <a:pPr lvl="1"/>
            <a:r>
              <a:rPr lang="en-US" dirty="0">
                <a:latin typeface="Times New Roman" panose="02020603050405020304" pitchFamily="18" charset="0"/>
                <a:cs typeface="Times New Roman" panose="02020603050405020304" pitchFamily="18" charset="0"/>
              </a:rPr>
              <a:t>Compute similarity score S between detected features and expected features.</a:t>
            </a:r>
          </a:p>
          <a:p>
            <a:pPr marL="76200" indent="0">
              <a:buNone/>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851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2E806EFF-B735-D689-9001-7EE4318F496F}"/>
              </a:ext>
            </a:extLst>
          </p:cNvPr>
          <p:cNvSpPr>
            <a:spLocks noGrp="1" noChangeArrowheads="1"/>
          </p:cNvSpPr>
          <p:nvPr>
            <p:ph type="body" idx="1"/>
          </p:nvPr>
        </p:nvSpPr>
        <p:spPr bwMode="auto">
          <a:xfrm>
            <a:off x="804333" y="1153458"/>
            <a:ext cx="9245600" cy="2523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Quality Assessment: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sz="2000" dirty="0">
                <a:solidFill>
                  <a:schemeClr val="tx1"/>
                </a:solidFill>
                <a:latin typeface="Times New Roman" panose="02020603050405020304" pitchFamily="18" charset="0"/>
                <a:cs typeface="Times New Roman" panose="02020603050405020304" pitchFamily="18" charset="0"/>
              </a:rPr>
              <a:t>     -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Check resolution ≥ threshold (e.g., 800x800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px</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Ensure correct orientation and plain background.</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Detect blurriness using Laplacian variance.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Decision Making:</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If S ≥ 0.9 and quality checks passed → Accept Image.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Else → Flag Image as Non-Compliant and provide corrective suggestions.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258117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7CB23-53CB-E896-DEEB-8BB00CAF60AB}"/>
              </a:ext>
            </a:extLst>
          </p:cNvPr>
          <p:cNvSpPr>
            <a:spLocks noGrp="1"/>
          </p:cNvSpPr>
          <p:nvPr>
            <p:ph type="title"/>
          </p:nvPr>
        </p:nvSpPr>
        <p:spPr>
          <a:xfrm>
            <a:off x="762000" y="221248"/>
            <a:ext cx="10668000" cy="422220"/>
          </a:xfrm>
        </p:spPr>
        <p:txBody>
          <a:bodyPr/>
          <a:lstStyle/>
          <a:p>
            <a:r>
              <a:rPr lang="en-IN" dirty="0"/>
              <a:t>Module Description:</a:t>
            </a:r>
          </a:p>
        </p:txBody>
      </p:sp>
      <p:graphicFrame>
        <p:nvGraphicFramePr>
          <p:cNvPr id="5" name="Table 4">
            <a:extLst>
              <a:ext uri="{FF2B5EF4-FFF2-40B4-BE49-F238E27FC236}">
                <a16:creationId xmlns:a16="http://schemas.microsoft.com/office/drawing/2014/main" id="{2FFAE9D5-7F42-12DE-3238-F6C25F7E6452}"/>
              </a:ext>
            </a:extLst>
          </p:cNvPr>
          <p:cNvGraphicFramePr>
            <a:graphicFrameLocks noGrp="1"/>
          </p:cNvGraphicFramePr>
          <p:nvPr>
            <p:extLst>
              <p:ext uri="{D42A27DB-BD31-4B8C-83A1-F6EECF244321}">
                <p14:modId xmlns:p14="http://schemas.microsoft.com/office/powerpoint/2010/main" val="1198175708"/>
              </p:ext>
            </p:extLst>
          </p:nvPr>
        </p:nvGraphicFramePr>
        <p:xfrm>
          <a:off x="1244599" y="1337733"/>
          <a:ext cx="9304868" cy="4317999"/>
        </p:xfrm>
        <a:graphic>
          <a:graphicData uri="http://schemas.openxmlformats.org/drawingml/2006/table">
            <a:tbl>
              <a:tblPr firstRow="1" bandRow="1"/>
              <a:tblGrid>
                <a:gridCol w="2326217">
                  <a:extLst>
                    <a:ext uri="{9D8B030D-6E8A-4147-A177-3AD203B41FA5}">
                      <a16:colId xmlns:a16="http://schemas.microsoft.com/office/drawing/2014/main" val="1324698107"/>
                    </a:ext>
                  </a:extLst>
                </a:gridCol>
                <a:gridCol w="2326217">
                  <a:extLst>
                    <a:ext uri="{9D8B030D-6E8A-4147-A177-3AD203B41FA5}">
                      <a16:colId xmlns:a16="http://schemas.microsoft.com/office/drawing/2014/main" val="960500628"/>
                    </a:ext>
                  </a:extLst>
                </a:gridCol>
                <a:gridCol w="2326217">
                  <a:extLst>
                    <a:ext uri="{9D8B030D-6E8A-4147-A177-3AD203B41FA5}">
                      <a16:colId xmlns:a16="http://schemas.microsoft.com/office/drawing/2014/main" val="1829023689"/>
                    </a:ext>
                  </a:extLst>
                </a:gridCol>
                <a:gridCol w="2326217">
                  <a:extLst>
                    <a:ext uri="{9D8B030D-6E8A-4147-A177-3AD203B41FA5}">
                      <a16:colId xmlns:a16="http://schemas.microsoft.com/office/drawing/2014/main" val="2339746252"/>
                    </a:ext>
                  </a:extLst>
                </a:gridCol>
              </a:tblGrid>
              <a:tr h="624225">
                <a:tc>
                  <a:txBody>
                    <a:bodyPr/>
                    <a:lstStyle/>
                    <a:p>
                      <a:pPr algn="ctr"/>
                      <a:r>
                        <a:rPr lang="en-IN" b="1" dirty="0"/>
                        <a:t>Module</a:t>
                      </a:r>
                    </a:p>
                  </a:txBody>
                  <a:tcPr/>
                </a:tc>
                <a:tc>
                  <a:txBody>
                    <a:bodyPr/>
                    <a:lstStyle/>
                    <a:p>
                      <a:pPr algn="ctr"/>
                      <a:r>
                        <a:rPr lang="en-IN" b="1" dirty="0"/>
                        <a:t>Functionality</a:t>
                      </a:r>
                    </a:p>
                  </a:txBody>
                  <a:tcPr/>
                </a:tc>
                <a:tc>
                  <a:txBody>
                    <a:bodyPr/>
                    <a:lstStyle/>
                    <a:p>
                      <a:pPr algn="ctr"/>
                      <a:r>
                        <a:rPr lang="en-IN" b="1" dirty="0"/>
                        <a:t>Input</a:t>
                      </a:r>
                    </a:p>
                  </a:txBody>
                  <a:tcPr/>
                </a:tc>
                <a:tc>
                  <a:txBody>
                    <a:bodyPr/>
                    <a:lstStyle/>
                    <a:p>
                      <a:pPr algn="ctr"/>
                      <a:r>
                        <a:rPr lang="en-IN" b="1" dirty="0"/>
                        <a:t>Output</a:t>
                      </a:r>
                    </a:p>
                  </a:txBody>
                  <a:tcPr/>
                </a:tc>
                <a:extLst>
                  <a:ext uri="{0D108BD9-81ED-4DB2-BD59-A6C34878D82A}">
                    <a16:rowId xmlns:a16="http://schemas.microsoft.com/office/drawing/2014/main" val="1098148875"/>
                  </a:ext>
                </a:extLst>
              </a:tr>
              <a:tr h="624225">
                <a:tc>
                  <a:txBody>
                    <a:bodyPr/>
                    <a:lstStyle/>
                    <a:p>
                      <a:r>
                        <a:rPr lang="en-IN" b="1" dirty="0"/>
                        <a:t>Image Upload Module</a:t>
                      </a:r>
                    </a:p>
                  </a:txBody>
                  <a:tcPr/>
                </a:tc>
                <a:tc>
                  <a:txBody>
                    <a:bodyPr/>
                    <a:lstStyle/>
                    <a:p>
                      <a:r>
                        <a:rPr lang="en-US" dirty="0"/>
                        <a:t>Accepts product images from sellers</a:t>
                      </a:r>
                      <a:endParaRPr lang="en-IN" dirty="0"/>
                    </a:p>
                  </a:txBody>
                  <a:tcPr/>
                </a:tc>
                <a:tc>
                  <a:txBody>
                    <a:bodyPr/>
                    <a:lstStyle/>
                    <a:p>
                      <a:r>
                        <a:rPr lang="en-IN" dirty="0"/>
                        <a:t>Raw product images</a:t>
                      </a:r>
                    </a:p>
                  </a:txBody>
                  <a:tcPr/>
                </a:tc>
                <a:tc>
                  <a:txBody>
                    <a:bodyPr/>
                    <a:lstStyle/>
                    <a:p>
                      <a:r>
                        <a:rPr lang="en-IN" dirty="0"/>
                        <a:t>Standardized images for processing</a:t>
                      </a:r>
                    </a:p>
                  </a:txBody>
                  <a:tcPr/>
                </a:tc>
                <a:extLst>
                  <a:ext uri="{0D108BD9-81ED-4DB2-BD59-A6C34878D82A}">
                    <a16:rowId xmlns:a16="http://schemas.microsoft.com/office/drawing/2014/main" val="2998134341"/>
                  </a:ext>
                </a:extLst>
              </a:tr>
              <a:tr h="624225">
                <a:tc>
                  <a:txBody>
                    <a:bodyPr/>
                    <a:lstStyle/>
                    <a:p>
                      <a:r>
                        <a:rPr lang="en-IN" b="1" dirty="0"/>
                        <a:t>Preprocessing Module</a:t>
                      </a:r>
                    </a:p>
                  </a:txBody>
                  <a:tcPr/>
                </a:tc>
                <a:tc>
                  <a:txBody>
                    <a:bodyPr/>
                    <a:lstStyle/>
                    <a:p>
                      <a:r>
                        <a:rPr lang="en-IN" dirty="0"/>
                        <a:t>Resizes, enhances, and normalizes images</a:t>
                      </a:r>
                    </a:p>
                  </a:txBody>
                  <a:tcPr/>
                </a:tc>
                <a:tc>
                  <a:txBody>
                    <a:bodyPr/>
                    <a:lstStyle/>
                    <a:p>
                      <a:r>
                        <a:rPr lang="en-IN" dirty="0"/>
                        <a:t>Raw images</a:t>
                      </a:r>
                    </a:p>
                  </a:txBody>
                  <a:tcPr/>
                </a:tc>
                <a:tc>
                  <a:txBody>
                    <a:bodyPr/>
                    <a:lstStyle/>
                    <a:p>
                      <a:r>
                        <a:rPr lang="en-US" dirty="0"/>
                        <a:t>Cleaned images ready for analysis</a:t>
                      </a:r>
                      <a:endParaRPr lang="en-IN" dirty="0"/>
                    </a:p>
                  </a:txBody>
                  <a:tcPr/>
                </a:tc>
                <a:extLst>
                  <a:ext uri="{0D108BD9-81ED-4DB2-BD59-A6C34878D82A}">
                    <a16:rowId xmlns:a16="http://schemas.microsoft.com/office/drawing/2014/main" val="2569700936"/>
                  </a:ext>
                </a:extLst>
              </a:tr>
              <a:tr h="815108">
                <a:tc>
                  <a:txBody>
                    <a:bodyPr/>
                    <a:lstStyle/>
                    <a:p>
                      <a:r>
                        <a:rPr lang="en-IN" b="1" dirty="0"/>
                        <a:t>Feature Extraction Module</a:t>
                      </a:r>
                    </a:p>
                  </a:txBody>
                  <a:tcPr/>
                </a:tc>
                <a:tc>
                  <a:txBody>
                    <a:bodyPr/>
                    <a:lstStyle/>
                    <a:p>
                      <a:r>
                        <a:rPr lang="en-US" dirty="0"/>
                        <a:t>Detects product features like shape, color, size, and patterns</a:t>
                      </a:r>
                      <a:endParaRPr lang="en-IN" dirty="0"/>
                    </a:p>
                  </a:txBody>
                  <a:tcPr/>
                </a:tc>
                <a:tc>
                  <a:txBody>
                    <a:bodyPr/>
                    <a:lstStyle/>
                    <a:p>
                      <a:r>
                        <a:rPr lang="en-IN" dirty="0" err="1"/>
                        <a:t>Preprocessed</a:t>
                      </a:r>
                      <a:r>
                        <a:rPr lang="en-IN" dirty="0"/>
                        <a:t> images</a:t>
                      </a:r>
                    </a:p>
                  </a:txBody>
                  <a:tcPr/>
                </a:tc>
                <a:tc>
                  <a:txBody>
                    <a:bodyPr/>
                    <a:lstStyle/>
                    <a:p>
                      <a:r>
                        <a:rPr lang="en-US" dirty="0"/>
                        <a:t>Feature vectors of product attributes</a:t>
                      </a:r>
                      <a:endParaRPr lang="en-IN" dirty="0"/>
                    </a:p>
                  </a:txBody>
                  <a:tcPr/>
                </a:tc>
                <a:extLst>
                  <a:ext uri="{0D108BD9-81ED-4DB2-BD59-A6C34878D82A}">
                    <a16:rowId xmlns:a16="http://schemas.microsoft.com/office/drawing/2014/main" val="1982235135"/>
                  </a:ext>
                </a:extLst>
              </a:tr>
              <a:tr h="815108">
                <a:tc>
                  <a:txBody>
                    <a:bodyPr/>
                    <a:lstStyle/>
                    <a:p>
                      <a:r>
                        <a:rPr lang="en-IN" b="1" dirty="0"/>
                        <a:t>Validation Module</a:t>
                      </a:r>
                    </a:p>
                  </a:txBody>
                  <a:tcPr/>
                </a:tc>
                <a:tc>
                  <a:txBody>
                    <a:bodyPr/>
                    <a:lstStyle/>
                    <a:p>
                      <a:r>
                        <a:rPr lang="en-US" dirty="0"/>
                        <a:t>Compares extracted features with metadata and guideline standards</a:t>
                      </a:r>
                      <a:endParaRPr lang="en-IN" dirty="0"/>
                    </a:p>
                  </a:txBody>
                  <a:tcPr/>
                </a:tc>
                <a:tc>
                  <a:txBody>
                    <a:bodyPr/>
                    <a:lstStyle/>
                    <a:p>
                      <a:r>
                        <a:rPr lang="en-IN" dirty="0"/>
                        <a:t>Feature vectors, product metadata</a:t>
                      </a:r>
                    </a:p>
                  </a:txBody>
                  <a:tcPr/>
                </a:tc>
                <a:tc>
                  <a:txBody>
                    <a:bodyPr/>
                    <a:lstStyle/>
                    <a:p>
                      <a:r>
                        <a:rPr lang="en-IN" dirty="0"/>
                        <a:t>Correctness score &amp; validation results</a:t>
                      </a:r>
                    </a:p>
                  </a:txBody>
                  <a:tcPr/>
                </a:tc>
                <a:extLst>
                  <a:ext uri="{0D108BD9-81ED-4DB2-BD59-A6C34878D82A}">
                    <a16:rowId xmlns:a16="http://schemas.microsoft.com/office/drawing/2014/main" val="213854025"/>
                  </a:ext>
                </a:extLst>
              </a:tr>
              <a:tr h="815108">
                <a:tc>
                  <a:txBody>
                    <a:bodyPr/>
                    <a:lstStyle/>
                    <a:p>
                      <a:r>
                        <a:rPr lang="en-IN" b="1" dirty="0"/>
                        <a:t>Quality Assessment Module</a:t>
                      </a:r>
                    </a:p>
                  </a:txBody>
                  <a:tcPr/>
                </a:tc>
                <a:tc>
                  <a:txBody>
                    <a:bodyPr/>
                    <a:lstStyle/>
                    <a:p>
                      <a:r>
                        <a:rPr lang="en-US" dirty="0"/>
                        <a:t>Checks resolution, focus, brightness, and background</a:t>
                      </a:r>
                      <a:endParaRPr lang="en-IN" dirty="0"/>
                    </a:p>
                  </a:txBody>
                  <a:tcPr/>
                </a:tc>
                <a:tc>
                  <a:txBody>
                    <a:bodyPr/>
                    <a:lstStyle/>
                    <a:p>
                      <a:r>
                        <a:rPr lang="en-IN" dirty="0" err="1"/>
                        <a:t>Preprocessed</a:t>
                      </a:r>
                      <a:r>
                        <a:rPr lang="en-IN" dirty="0"/>
                        <a:t> images</a:t>
                      </a:r>
                    </a:p>
                  </a:txBody>
                  <a:tcPr/>
                </a:tc>
                <a:tc>
                  <a:txBody>
                    <a:bodyPr/>
                    <a:lstStyle/>
                    <a:p>
                      <a:r>
                        <a:rPr lang="en-IN" dirty="0"/>
                        <a:t>Quality assessment report</a:t>
                      </a:r>
                    </a:p>
                  </a:txBody>
                  <a:tcPr/>
                </a:tc>
                <a:extLst>
                  <a:ext uri="{0D108BD9-81ED-4DB2-BD59-A6C34878D82A}">
                    <a16:rowId xmlns:a16="http://schemas.microsoft.com/office/drawing/2014/main" val="3915737053"/>
                  </a:ext>
                </a:extLst>
              </a:tr>
            </a:tbl>
          </a:graphicData>
        </a:graphic>
      </p:graphicFrame>
    </p:spTree>
    <p:extLst>
      <p:ext uri="{BB962C8B-B14F-4D97-AF65-F5344CB8AC3E}">
        <p14:creationId xmlns:p14="http://schemas.microsoft.com/office/powerpoint/2010/main" val="23298411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152400" indent="0">
              <a:spcBef>
                <a:spcPts val="0"/>
              </a:spcBef>
              <a:buNone/>
            </a:pPr>
            <a:endParaRPr lang="en-US" dirty="0">
              <a:latin typeface="Cambria" panose="02040503050406030204" pitchFamily="18" charset="0"/>
              <a:ea typeface="Cambria" panose="02040503050406030204" pitchFamily="18" charset="0"/>
            </a:endParaRPr>
          </a:p>
          <a:p>
            <a:pPr marL="609600" indent="-457200">
              <a:spcBef>
                <a:spcPts val="0"/>
              </a:spcBef>
              <a:buAutoNum type="arabicPeriod"/>
            </a:pPr>
            <a:r>
              <a:rPr lang="en-US" dirty="0">
                <a:latin typeface="Cambria" panose="02040503050406030204" pitchFamily="18" charset="0"/>
                <a:ea typeface="Cambria" panose="02040503050406030204" pitchFamily="18" charset="0"/>
              </a:rPr>
              <a:t>A. </a:t>
            </a:r>
            <a:r>
              <a:rPr lang="en-US" dirty="0" err="1">
                <a:latin typeface="Cambria" panose="02040503050406030204" pitchFamily="18" charset="0"/>
                <a:ea typeface="Cambria" panose="02040503050406030204" pitchFamily="18" charset="0"/>
              </a:rPr>
              <a:t>Krizhevsky</a:t>
            </a:r>
            <a:r>
              <a:rPr lang="en-US" dirty="0">
                <a:latin typeface="Cambria" panose="02040503050406030204" pitchFamily="18" charset="0"/>
                <a:ea typeface="Cambria" panose="02040503050406030204" pitchFamily="18" charset="0"/>
              </a:rPr>
              <a:t>, I. </a:t>
            </a:r>
            <a:r>
              <a:rPr lang="en-US" dirty="0" err="1">
                <a:latin typeface="Cambria" panose="02040503050406030204" pitchFamily="18" charset="0"/>
                <a:ea typeface="Cambria" panose="02040503050406030204" pitchFamily="18" charset="0"/>
              </a:rPr>
              <a:t>Sutskever</a:t>
            </a:r>
            <a:r>
              <a:rPr lang="en-US" dirty="0">
                <a:latin typeface="Cambria" panose="02040503050406030204" pitchFamily="18" charset="0"/>
                <a:ea typeface="Cambria" panose="02040503050406030204" pitchFamily="18" charset="0"/>
              </a:rPr>
              <a:t>, and G. E. Hinton, “ImageNet classification with deep convolutional neural networks,” Communications of the ACM, vol. 60, no. 6, pp. 84–90, Jun. 2017.</a:t>
            </a:r>
          </a:p>
          <a:p>
            <a:pPr marL="609600" indent="-457200">
              <a:spcBef>
                <a:spcPts val="0"/>
              </a:spcBef>
              <a:buAutoNum type="arabicPeriod"/>
            </a:pPr>
            <a:r>
              <a:rPr lang="en-US" dirty="0">
                <a:latin typeface="Cambria" panose="02040503050406030204" pitchFamily="18" charset="0"/>
                <a:ea typeface="Cambria" panose="02040503050406030204" pitchFamily="18" charset="0"/>
              </a:rPr>
              <a:t> J. Redmon and A. Farhadi, “YOLOv3: An Incremental Improvement,” </a:t>
            </a:r>
            <a:r>
              <a:rPr lang="en-US" dirty="0" err="1">
                <a:latin typeface="Cambria" panose="02040503050406030204" pitchFamily="18" charset="0"/>
                <a:ea typeface="Cambria" panose="02040503050406030204" pitchFamily="18" charset="0"/>
              </a:rPr>
              <a:t>arXiv</a:t>
            </a:r>
            <a:r>
              <a:rPr lang="en-US" dirty="0">
                <a:latin typeface="Cambria" panose="02040503050406030204" pitchFamily="18" charset="0"/>
                <a:ea typeface="Cambria" panose="02040503050406030204" pitchFamily="18" charset="0"/>
              </a:rPr>
              <a:t> preprint arXiv:1804.02767, Apr. 2018.3.</a:t>
            </a:r>
          </a:p>
          <a:p>
            <a:pPr marL="609600" indent="-457200">
              <a:spcBef>
                <a:spcPts val="0"/>
              </a:spcBef>
              <a:buAutoNum type="arabicPeriod"/>
            </a:pPr>
            <a:r>
              <a:rPr lang="en-US" dirty="0">
                <a:latin typeface="Cambria" panose="02040503050406030204" pitchFamily="18" charset="0"/>
                <a:ea typeface="Cambria" panose="02040503050406030204" pitchFamily="18" charset="0"/>
              </a:rPr>
              <a:t> A. </a:t>
            </a:r>
            <a:r>
              <a:rPr lang="en-US" dirty="0" err="1">
                <a:latin typeface="Cambria" panose="02040503050406030204" pitchFamily="18" charset="0"/>
                <a:ea typeface="Cambria" panose="02040503050406030204" pitchFamily="18" charset="0"/>
              </a:rPr>
              <a:t>Dosovitskiy</a:t>
            </a:r>
            <a:r>
              <a:rPr lang="en-US" dirty="0">
                <a:latin typeface="Cambria" panose="02040503050406030204" pitchFamily="18" charset="0"/>
                <a:ea typeface="Cambria" panose="02040503050406030204" pitchFamily="18" charset="0"/>
              </a:rPr>
              <a:t> et al., “An Image is Worth 16x16 Words: Transformers for Image Recognition at Scale,” </a:t>
            </a:r>
            <a:r>
              <a:rPr lang="en-US" dirty="0" err="1">
                <a:latin typeface="Cambria" panose="02040503050406030204" pitchFamily="18" charset="0"/>
                <a:ea typeface="Cambria" panose="02040503050406030204" pitchFamily="18" charset="0"/>
              </a:rPr>
              <a:t>arXiv</a:t>
            </a:r>
            <a:r>
              <a:rPr lang="en-US" dirty="0">
                <a:latin typeface="Cambria" panose="02040503050406030204" pitchFamily="18" charset="0"/>
                <a:ea typeface="Cambria" panose="02040503050406030204" pitchFamily="18" charset="0"/>
              </a:rPr>
              <a:t> preprint arXiv:2010.11929, Oct. 2020.4.</a:t>
            </a:r>
          </a:p>
          <a:p>
            <a:pPr marL="609600" indent="-457200">
              <a:spcBef>
                <a:spcPts val="0"/>
              </a:spcBef>
              <a:buAutoNum type="arabicPeriod"/>
            </a:pPr>
            <a:r>
              <a:rPr lang="en-US" dirty="0">
                <a:latin typeface="Cambria" panose="02040503050406030204" pitchFamily="18" charset="0"/>
                <a:ea typeface="Cambria" panose="02040503050406030204" pitchFamily="18" charset="0"/>
              </a:rPr>
              <a:t> A. Radford et al., “Learning transferable visual models from natural language supervision,” in Proceedings of the International Conference on Machine Learning (ICML), 2021, pp. 8748–8763.</a:t>
            </a: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lang="en-US">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1296</TotalTime>
  <Words>913</Words>
  <Application>Microsoft Office PowerPoint</Application>
  <PresentationFormat>Widescreen</PresentationFormat>
  <Paragraphs>102</Paragraphs>
  <Slides>10</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Cambria</vt:lpstr>
      <vt:lpstr>Times New Roman</vt:lpstr>
      <vt:lpstr>Verdana</vt:lpstr>
      <vt:lpstr>Bioinformatics</vt:lpstr>
      <vt:lpstr>Image Correctness For a Product on Marketplace</vt:lpstr>
      <vt:lpstr>Abstract:</vt:lpstr>
      <vt:lpstr>Literature Review:</vt:lpstr>
      <vt:lpstr>System Design:</vt:lpstr>
      <vt:lpstr>System Architecture:</vt:lpstr>
      <vt:lpstr>Algorithm Details:</vt:lpstr>
      <vt:lpstr>PowerPoint Presentation</vt:lpstr>
      <vt:lpstr>Module Description:</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B Deekshitha</cp:lastModifiedBy>
  <cp:revision>49</cp:revision>
  <dcterms:modified xsi:type="dcterms:W3CDTF">2025-09-26T06:51:05Z</dcterms:modified>
</cp:coreProperties>
</file>