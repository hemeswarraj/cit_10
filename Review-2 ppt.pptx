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87" r:id="rId3"/>
    <p:sldId id="276" r:id="rId4"/>
    <p:sldId id="290" r:id="rId5"/>
    <p:sldId id="288" r:id="rId6"/>
    <p:sldId id="292" r:id="rId7"/>
    <p:sldId id="278" r:id="rId8"/>
    <p:sldId id="293" r:id="rId9"/>
    <p:sldId id="269" r:id="rId10"/>
    <p:sldId id="289" r:id="rId11"/>
    <p:sldId id="281" r:id="rId12"/>
    <p:sldId id="268" r:id="rId13"/>
    <p:sldId id="284" r:id="rId14"/>
    <p:sldId id="265"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IN" sz="1600" dirty="0"/>
              <a:t>Image Correctness For a Product on Marketplace</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a:t>
            </a:r>
            <a:r>
              <a:rPr lang="en-IN" sz="1600" dirty="0"/>
              <a:t>CIT_10</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677700" y="3086079"/>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US"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US"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lang="en-US"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ctr" rtl="0">
              <a:spcBef>
                <a:spcPts val="340"/>
              </a:spcBef>
              <a:spcAft>
                <a:spcPts val="0"/>
              </a:spcAft>
              <a:buClr>
                <a:srgbClr val="17365D"/>
              </a:buClr>
              <a:buSzPts val="1700"/>
              <a:buFont typeface="Arial"/>
              <a:buNone/>
            </a:pPr>
            <a:r>
              <a:rPr lang="en-US" sz="2000" dirty="0"/>
              <a:t> </a:t>
            </a:r>
            <a:r>
              <a:rPr lang="en-US" sz="2000" dirty="0">
                <a:latin typeface="Times New Roman" panose="02020603050405020304" pitchFamily="18" charset="0"/>
                <a:cs typeface="Times New Roman" panose="02020603050405020304" pitchFamily="18" charset="0"/>
              </a:rPr>
              <a:t>Guide : </a:t>
            </a:r>
            <a:r>
              <a:rPr lang="en-US" sz="2000" dirty="0" err="1">
                <a:latin typeface="Times New Roman" panose="02020603050405020304" pitchFamily="18" charset="0"/>
                <a:cs typeface="Times New Roman" panose="02020603050405020304" pitchFamily="18" charset="0"/>
              </a:rPr>
              <a:t>Ms.Shivabasamma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Beli</a:t>
            </a:r>
            <a:endParaRPr lang="en-US" sz="2000" dirty="0">
              <a:latin typeface="Times New Roman" panose="020206030504050203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a:buNone/>
            </a:pPr>
            <a:r>
              <a:rPr lang="en-IN" sz="2000" dirty="0">
                <a:latin typeface="Times New Roman" panose="02020603050405020304" pitchFamily="18" charset="0"/>
                <a:cs typeface="Times New Roman" panose="02020603050405020304" pitchFamily="18" charset="0"/>
              </a:rPr>
              <a:t> Reviewer : </a:t>
            </a:r>
            <a:r>
              <a:rPr lang="en-IN" sz="2000" dirty="0" err="1">
                <a:latin typeface="Times New Roman" panose="02020603050405020304" pitchFamily="18" charset="0"/>
                <a:cs typeface="Times New Roman" panose="02020603050405020304" pitchFamily="18" charset="0"/>
              </a:rPr>
              <a:t>Mr.Tanveer</a:t>
            </a:r>
            <a:r>
              <a:rPr lang="en-IN" sz="2000" dirty="0">
                <a:latin typeface="Times New Roman" panose="02020603050405020304" pitchFamily="18" charset="0"/>
                <a:cs typeface="Times New Roman" panose="02020603050405020304" pitchFamily="18" charset="0"/>
              </a:rPr>
              <a:t> Ahmed</a:t>
            </a:r>
            <a:endParaRPr lang="en-US" sz="2000" dirty="0">
              <a:latin typeface="Times New Roman" panose="02020603050405020304" pitchFamily="18" charset="0"/>
              <a:cs typeface="Times New Roman" panose="02020603050405020304" pitchFamily="18" charset="0"/>
            </a:endParaRPr>
          </a:p>
          <a:p>
            <a:pPr marL="0" marR="0" lvl="0" indent="0" algn="l" rtl="0">
              <a:spcBef>
                <a:spcPts val="340"/>
              </a:spcBef>
              <a:spcAft>
                <a:spcPts val="0"/>
              </a:spcAft>
              <a:buClr>
                <a:srgbClr val="17365D"/>
              </a:buClr>
              <a:buSzPts val="1700"/>
              <a:buFont typeface="Arial"/>
              <a:buNone/>
            </a:pPr>
            <a:endParaRPr lang="en-US" dirty="0">
              <a:latin typeface="Cambria" panose="02040503050406030204" pitchFamily="18" charset="0"/>
              <a:ea typeface="Cambria" panose="02040503050406030204" pitchFamily="18" charset="0"/>
            </a:endParaRPr>
          </a:p>
        </p:txBody>
      </p:sp>
      <p:graphicFrame>
        <p:nvGraphicFramePr>
          <p:cNvPr id="89" name="Google Shape;89;p13"/>
          <p:cNvGraphicFramePr/>
          <p:nvPr>
            <p:extLst>
              <p:ext uri="{D42A27DB-BD31-4B8C-83A1-F6EECF244321}">
                <p14:modId xmlns:p14="http://schemas.microsoft.com/office/powerpoint/2010/main" val="2854632182"/>
              </p:ext>
            </p:extLst>
          </p:nvPr>
        </p:nvGraphicFramePr>
        <p:xfrm>
          <a:off x="553347" y="2721840"/>
          <a:ext cx="5418675" cy="146308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59120" y="11851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790468" y="4730122"/>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err="1">
                <a:solidFill>
                  <a:schemeClr val="bg2">
                    <a:lumMod val="75000"/>
                  </a:schemeClr>
                </a:solidFill>
                <a:latin typeface="Cambria" panose="02040503050406030204" pitchFamily="18" charset="0"/>
                <a:ea typeface="Cambria" panose="02040503050406030204" pitchFamily="18" charset="0"/>
                <a:cs typeface="Verdana"/>
                <a:sym typeface="Verdana"/>
              </a:rPr>
              <a:t>DrS</a:t>
            </a:r>
            <a:r>
              <a:rPr lang="en-US" sz="1800" b="1" dirty="0">
                <a:solidFill>
                  <a:schemeClr val="bg2">
                    <a:lumMod val="75000"/>
                  </a:schemeClr>
                </a:solidFill>
                <a:latin typeface="Cambria" panose="02040503050406030204" pitchFamily="18" charset="0"/>
                <a:ea typeface="Cambria" panose="02040503050406030204" pitchFamily="18" charset="0"/>
                <a:cs typeface="Verdana"/>
                <a:sym typeface="Verdana"/>
              </a:rPr>
              <a:t> P </a:t>
            </a:r>
            <a:r>
              <a:rPr lang="en-US" sz="1800" b="1" dirty="0" err="1">
                <a:solidFill>
                  <a:schemeClr val="bg2">
                    <a:lumMod val="75000"/>
                  </a:schemeClr>
                </a:solidFill>
                <a:latin typeface="Cambria" panose="02040503050406030204" pitchFamily="18" charset="0"/>
                <a:ea typeface="Cambria" panose="02040503050406030204" pitchFamily="18" charset="0"/>
                <a:cs typeface="Verdana"/>
                <a:sym typeface="Verdana"/>
              </a:rPr>
              <a:t>Anandaraj</a:t>
            </a:r>
            <a:r>
              <a:rPr lang="en-US" sz="1800" b="1" dirty="0">
                <a:solidFill>
                  <a:schemeClr val="bg2">
                    <a:lumMod val="75000"/>
                  </a:schemeClr>
                </a:solidFill>
                <a:latin typeface="Cambria" panose="02040503050406030204" pitchFamily="18" charset="0"/>
                <a:ea typeface="Cambria" panose="02040503050406030204" pitchFamily="18" charset="0"/>
                <a:cs typeface="Verdana"/>
                <a:sym typeface="Verdana"/>
              </a:rPr>
              <a:t> Sir</a:t>
            </a:r>
          </a:p>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2">
            <a:extLst>
              <a:ext uri="{FF2B5EF4-FFF2-40B4-BE49-F238E27FC236}">
                <a16:creationId xmlns:a16="http://schemas.microsoft.com/office/drawing/2014/main" id="{643DEA42-318C-4C31-8E68-0F4B86CB7F70}"/>
              </a:ext>
            </a:extLst>
          </p:cNvPr>
          <p:cNvGraphicFramePr>
            <a:graphicFrameLocks noGrp="1"/>
          </p:cNvGraphicFramePr>
          <p:nvPr>
            <p:extLst>
              <p:ext uri="{D42A27DB-BD31-4B8C-83A1-F6EECF244321}">
                <p14:modId xmlns:p14="http://schemas.microsoft.com/office/powerpoint/2010/main" val="1009022165"/>
              </p:ext>
            </p:extLst>
          </p:nvPr>
        </p:nvGraphicFramePr>
        <p:xfrm>
          <a:off x="974849" y="2958675"/>
          <a:ext cx="5150303" cy="1562100"/>
        </p:xfrm>
        <a:graphic>
          <a:graphicData uri="http://schemas.openxmlformats.org/drawingml/2006/table">
            <a:tbl>
              <a:tblPr firstRow="1" bandRow="1"/>
              <a:tblGrid>
                <a:gridCol w="2487786">
                  <a:extLst>
                    <a:ext uri="{9D8B030D-6E8A-4147-A177-3AD203B41FA5}">
                      <a16:colId xmlns:a16="http://schemas.microsoft.com/office/drawing/2014/main" val="3102227351"/>
                    </a:ext>
                  </a:extLst>
                </a:gridCol>
                <a:gridCol w="2662517">
                  <a:extLst>
                    <a:ext uri="{9D8B030D-6E8A-4147-A177-3AD203B41FA5}">
                      <a16:colId xmlns:a16="http://schemas.microsoft.com/office/drawing/2014/main" val="2243004137"/>
                    </a:ext>
                  </a:extLst>
                </a:gridCol>
              </a:tblGrid>
              <a:tr h="390525">
                <a:tc>
                  <a:txBody>
                    <a:bodyPr/>
                    <a:lstStyle/>
                    <a:p>
                      <a:pPr algn="ctr"/>
                      <a:r>
                        <a:rPr lang="en-US" b="1" dirty="0">
                          <a:latin typeface="Times New Roman" panose="02020603050405020304" pitchFamily="18" charset="0"/>
                          <a:cs typeface="Times New Roman" panose="02020603050405020304" pitchFamily="18" charset="0"/>
                        </a:rPr>
                        <a:t>ROLL NUMBER</a:t>
                      </a:r>
                      <a:endParaRPr lang="en-IN" b="1" dirty="0">
                        <a:latin typeface="Times New Roman" panose="02020603050405020304" pitchFamily="18" charset="0"/>
                        <a:cs typeface="Times New Roman" panose="02020603050405020304" pitchFamily="18" charset="0"/>
                      </a:endParaRPr>
                    </a:p>
                  </a:txBody>
                  <a:tcPr>
                    <a:solidFill>
                      <a:schemeClr val="bg2">
                        <a:lumMod val="40000"/>
                        <a:lumOff val="60000"/>
                      </a:schemeClr>
                    </a:solidFill>
                  </a:tcPr>
                </a:tc>
                <a:tc>
                  <a:txBody>
                    <a:bodyPr/>
                    <a:lstStyle/>
                    <a:p>
                      <a:pPr algn="ctr"/>
                      <a:r>
                        <a:rPr lang="en-US" b="1" dirty="0">
                          <a:latin typeface="Times New Roman" panose="02020603050405020304" pitchFamily="18" charset="0"/>
                          <a:cs typeface="Times New Roman" panose="02020603050405020304" pitchFamily="18" charset="0"/>
                        </a:rPr>
                        <a:t>STUDENT NAME</a:t>
                      </a:r>
                      <a:endParaRPr lang="en-IN" b="1" dirty="0">
                        <a:latin typeface="Times New Roman" panose="02020603050405020304" pitchFamily="18" charset="0"/>
                        <a:cs typeface="Times New Roman" panose="02020603050405020304" pitchFamily="18" charset="0"/>
                      </a:endParaRPr>
                    </a:p>
                  </a:txBody>
                  <a:tcPr>
                    <a:solidFill>
                      <a:schemeClr val="bg2">
                        <a:lumMod val="40000"/>
                        <a:lumOff val="60000"/>
                      </a:schemeClr>
                    </a:solidFill>
                  </a:tcPr>
                </a:tc>
                <a:extLst>
                  <a:ext uri="{0D108BD9-81ED-4DB2-BD59-A6C34878D82A}">
                    <a16:rowId xmlns:a16="http://schemas.microsoft.com/office/drawing/2014/main" val="3452763774"/>
                  </a:ext>
                </a:extLst>
              </a:tr>
              <a:tr h="390525">
                <a:tc>
                  <a:txBody>
                    <a:bodyPr/>
                    <a:lstStyle/>
                    <a:p>
                      <a:pPr algn="ctr"/>
                      <a:r>
                        <a:rPr lang="en-US" dirty="0">
                          <a:latin typeface="Times New Roman" panose="02020603050405020304" pitchFamily="18" charset="0"/>
                          <a:cs typeface="Times New Roman" panose="02020603050405020304" pitchFamily="18" charset="0"/>
                        </a:rPr>
                        <a:t>20221CIT0006</a:t>
                      </a:r>
                      <a:endParaRPr lang="en-IN" dirty="0">
                        <a:latin typeface="Times New Roman" panose="02020603050405020304" pitchFamily="18" charset="0"/>
                        <a:cs typeface="Times New Roman" panose="02020603050405020304" pitchFamily="18" charset="0"/>
                      </a:endParaRPr>
                    </a:p>
                  </a:txBody>
                  <a:tcPr>
                    <a:solidFill>
                      <a:schemeClr val="bg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anose="02020603050405020304" pitchFamily="18" charset="0"/>
                          <a:cs typeface="Times New Roman" panose="02020603050405020304" pitchFamily="18" charset="0"/>
                        </a:rPr>
                        <a:t>PR HEMESWAR RAJ</a:t>
                      </a:r>
                      <a:endParaRPr lang="en-IN" dirty="0">
                        <a:latin typeface="Times New Roman" panose="02020603050405020304" pitchFamily="18" charset="0"/>
                        <a:cs typeface="Times New Roman" panose="02020603050405020304" pitchFamily="18" charset="0"/>
                      </a:endParaRPr>
                    </a:p>
                  </a:txBody>
                  <a:tcPr>
                    <a:solidFill>
                      <a:schemeClr val="bg2">
                        <a:lumMod val="40000"/>
                        <a:lumOff val="60000"/>
                      </a:schemeClr>
                    </a:solidFill>
                  </a:tcPr>
                </a:tc>
                <a:extLst>
                  <a:ext uri="{0D108BD9-81ED-4DB2-BD59-A6C34878D82A}">
                    <a16:rowId xmlns:a16="http://schemas.microsoft.com/office/drawing/2014/main" val="2537968155"/>
                  </a:ext>
                </a:extLst>
              </a:tr>
              <a:tr h="390525">
                <a:tc>
                  <a:txBody>
                    <a:bodyPr/>
                    <a:lstStyle/>
                    <a:p>
                      <a:pPr algn="ctr"/>
                      <a:r>
                        <a:rPr lang="en-US" dirty="0">
                          <a:latin typeface="Times New Roman" panose="02020603050405020304" pitchFamily="18" charset="0"/>
                          <a:cs typeface="Times New Roman" panose="02020603050405020304" pitchFamily="18" charset="0"/>
                        </a:rPr>
                        <a:t>20221CIT0047</a:t>
                      </a:r>
                      <a:endParaRPr lang="en-IN" dirty="0">
                        <a:latin typeface="Times New Roman" panose="02020603050405020304" pitchFamily="18" charset="0"/>
                        <a:cs typeface="Times New Roman" panose="02020603050405020304" pitchFamily="18" charset="0"/>
                      </a:endParaRPr>
                    </a:p>
                  </a:txBody>
                  <a:tcPr>
                    <a:solidFill>
                      <a:schemeClr val="bg2">
                        <a:lumMod val="40000"/>
                        <a:lumOff val="60000"/>
                      </a:schemeClr>
                    </a:solidFill>
                  </a:tcPr>
                </a:tc>
                <a:tc>
                  <a:txBody>
                    <a:bodyPr/>
                    <a:lstStyle/>
                    <a:p>
                      <a:pPr algn="ctr"/>
                      <a:r>
                        <a:rPr lang="en-US" dirty="0">
                          <a:latin typeface="Times New Roman" panose="02020603050405020304" pitchFamily="18" charset="0"/>
                          <a:cs typeface="Times New Roman" panose="02020603050405020304" pitchFamily="18" charset="0"/>
                        </a:rPr>
                        <a:t>MANASA T</a:t>
                      </a:r>
                      <a:endParaRPr lang="en-IN" dirty="0">
                        <a:latin typeface="Times New Roman" panose="02020603050405020304" pitchFamily="18" charset="0"/>
                        <a:cs typeface="Times New Roman" panose="02020603050405020304" pitchFamily="18" charset="0"/>
                      </a:endParaRPr>
                    </a:p>
                  </a:txBody>
                  <a:tcPr>
                    <a:solidFill>
                      <a:schemeClr val="bg2">
                        <a:lumMod val="40000"/>
                        <a:lumOff val="60000"/>
                      </a:schemeClr>
                    </a:solidFill>
                  </a:tcPr>
                </a:tc>
                <a:extLst>
                  <a:ext uri="{0D108BD9-81ED-4DB2-BD59-A6C34878D82A}">
                    <a16:rowId xmlns:a16="http://schemas.microsoft.com/office/drawing/2014/main" val="3312924781"/>
                  </a:ext>
                </a:extLst>
              </a:tr>
              <a:tr h="390525">
                <a:tc>
                  <a:txBody>
                    <a:bodyPr/>
                    <a:lstStyle/>
                    <a:p>
                      <a:pPr algn="ctr"/>
                      <a:r>
                        <a:rPr lang="en-US" dirty="0">
                          <a:latin typeface="Times New Roman" panose="02020603050405020304" pitchFamily="18" charset="0"/>
                          <a:cs typeface="Times New Roman" panose="02020603050405020304" pitchFamily="18" charset="0"/>
                        </a:rPr>
                        <a:t>20221CIT0048</a:t>
                      </a:r>
                      <a:endParaRPr lang="en-IN" dirty="0">
                        <a:latin typeface="Times New Roman" panose="02020603050405020304" pitchFamily="18" charset="0"/>
                        <a:cs typeface="Times New Roman" panose="02020603050405020304" pitchFamily="18" charset="0"/>
                      </a:endParaRPr>
                    </a:p>
                  </a:txBody>
                  <a:tcPr>
                    <a:solidFill>
                      <a:schemeClr val="bg2">
                        <a:lumMod val="40000"/>
                        <a:lumOff val="60000"/>
                      </a:schemeClr>
                    </a:solidFill>
                  </a:tcPr>
                </a:tc>
                <a:tc>
                  <a:txBody>
                    <a:bodyPr/>
                    <a:lstStyle/>
                    <a:p>
                      <a:pPr algn="ctr"/>
                      <a:r>
                        <a:rPr lang="en-US" dirty="0">
                          <a:latin typeface="Times New Roman" panose="02020603050405020304" pitchFamily="18" charset="0"/>
                          <a:cs typeface="Times New Roman" panose="02020603050405020304" pitchFamily="18" charset="0"/>
                        </a:rPr>
                        <a:t>B DEEKSHITHA</a:t>
                      </a:r>
                      <a:endParaRPr lang="en-IN" dirty="0">
                        <a:latin typeface="Times New Roman" panose="02020603050405020304" pitchFamily="18" charset="0"/>
                        <a:cs typeface="Times New Roman" panose="02020603050405020304" pitchFamily="18" charset="0"/>
                      </a:endParaRPr>
                    </a:p>
                  </a:txBody>
                  <a:tcPr>
                    <a:solidFill>
                      <a:schemeClr val="bg2">
                        <a:lumMod val="40000"/>
                        <a:lumOff val="60000"/>
                      </a:schemeClr>
                    </a:solidFill>
                  </a:tcPr>
                </a:tc>
                <a:extLst>
                  <a:ext uri="{0D108BD9-81ED-4DB2-BD59-A6C34878D82A}">
                    <a16:rowId xmlns:a16="http://schemas.microsoft.com/office/drawing/2014/main" val="3604236019"/>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3812C-FAC4-1197-2343-9BB7F6AC2750}"/>
              </a:ext>
            </a:extLst>
          </p:cNvPr>
          <p:cNvSpPr>
            <a:spLocks noGrp="1"/>
          </p:cNvSpPr>
          <p:nvPr>
            <p:ph type="title"/>
          </p:nvPr>
        </p:nvSpPr>
        <p:spPr/>
        <p:txBody>
          <a:bodyPr/>
          <a:lstStyle/>
          <a:p>
            <a:r>
              <a:rPr lang="en-US" dirty="0"/>
              <a:t>Abstract:</a:t>
            </a:r>
            <a:endParaRPr lang="en-IN" dirty="0"/>
          </a:p>
        </p:txBody>
      </p:sp>
      <p:sp>
        <p:nvSpPr>
          <p:cNvPr id="3" name="Text Placeholder 2">
            <a:extLst>
              <a:ext uri="{FF2B5EF4-FFF2-40B4-BE49-F238E27FC236}">
                <a16:creationId xmlns:a16="http://schemas.microsoft.com/office/drawing/2014/main" id="{218D1831-B571-C0C8-C497-E14769979BE5}"/>
              </a:ext>
            </a:extLst>
          </p:cNvPr>
          <p:cNvSpPr>
            <a:spLocks noGrp="1"/>
          </p:cNvSpPr>
          <p:nvPr>
            <p:ph type="body" idx="1"/>
          </p:nvPr>
        </p:nvSpPr>
        <p:spPr/>
        <p:txBody>
          <a:bodyPr>
            <a:normAutofit/>
          </a:bodyPr>
          <a:lstStyle/>
          <a:p>
            <a:r>
              <a:rPr lang="en-US" dirty="0">
                <a:latin typeface="Times New Roman" panose="02020603050405020304" pitchFamily="18" charset="0"/>
                <a:cs typeface="Times New Roman" panose="02020603050405020304" pitchFamily="18" charset="0"/>
              </a:rPr>
              <a:t>Image correctness in online marketplaces refers to the accuracy, clarity, and compliance of product images with platform standards and customer expectations. High-quality, representative images are essential for enhancing buyer trust, reducing return rates, and maintaining the integrity of the marketplace. This evaluation focuses on ensuring that product images truthfully depict the item for sale, are free from misleading elements, and adhere to technical and content guidelines set by the platform.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4691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58EC0-8BE1-4544-89DA-B5C0FD318FA4}"/>
              </a:ext>
            </a:extLst>
          </p:cNvPr>
          <p:cNvSpPr>
            <a:spLocks noGrp="1"/>
          </p:cNvSpPr>
          <p:nvPr>
            <p:ph type="title"/>
          </p:nvPr>
        </p:nvSpPr>
        <p:spPr>
          <a:xfrm>
            <a:off x="762000" y="274499"/>
            <a:ext cx="10668000" cy="487500"/>
          </a:xfrm>
        </p:spPr>
        <p:txBody>
          <a:bodyPr/>
          <a:lstStyle/>
          <a:p>
            <a:r>
              <a:rPr lang="en-US" dirty="0"/>
              <a:t>Objective:</a:t>
            </a:r>
            <a:endParaRPr lang="en-IN" dirty="0"/>
          </a:p>
        </p:txBody>
      </p:sp>
      <p:sp>
        <p:nvSpPr>
          <p:cNvPr id="3" name="Text Placeholder 2">
            <a:extLst>
              <a:ext uri="{FF2B5EF4-FFF2-40B4-BE49-F238E27FC236}">
                <a16:creationId xmlns:a16="http://schemas.microsoft.com/office/drawing/2014/main" id="{6E124F2B-B4A5-4D8D-BDD4-D591D27801CD}"/>
              </a:ext>
            </a:extLst>
          </p:cNvPr>
          <p:cNvSpPr>
            <a:spLocks noGrp="1"/>
          </p:cNvSpPr>
          <p:nvPr>
            <p:ph type="body" idx="1"/>
          </p:nvPr>
        </p:nvSpPr>
        <p:spPr/>
        <p:txBody>
          <a:bodyPr/>
          <a:lstStyle/>
          <a:p>
            <a:pPr marL="76200" indent="0">
              <a:buNone/>
            </a:pPr>
            <a:r>
              <a:rPr lang="en-US" dirty="0">
                <a:latin typeface="Times New Roman" panose="02020603050405020304" pitchFamily="18" charset="0"/>
                <a:cs typeface="Times New Roman" panose="02020603050405020304" pitchFamily="18" charset="0"/>
              </a:rPr>
              <a:t>To assess whether product images:</a:t>
            </a:r>
          </a:p>
          <a:p>
            <a:r>
              <a:rPr lang="en-US" dirty="0">
                <a:latin typeface="Times New Roman" panose="02020603050405020304" pitchFamily="18" charset="0"/>
                <a:cs typeface="Times New Roman" panose="02020603050405020304" pitchFamily="18" charset="0"/>
              </a:rPr>
              <a:t>Accurately represent the product being sold.</a:t>
            </a:r>
          </a:p>
          <a:p>
            <a:r>
              <a:rPr lang="en-US" dirty="0">
                <a:latin typeface="Times New Roman" panose="02020603050405020304" pitchFamily="18" charset="0"/>
                <a:cs typeface="Times New Roman" panose="02020603050405020304" pitchFamily="18" charset="0"/>
              </a:rPr>
              <a:t>Meet platform-specific technical and content guidelines.</a:t>
            </a:r>
          </a:p>
          <a:p>
            <a:r>
              <a:rPr lang="en-US" dirty="0">
                <a:latin typeface="Times New Roman" panose="02020603050405020304" pitchFamily="18" charset="0"/>
                <a:cs typeface="Times New Roman" panose="02020603050405020304" pitchFamily="18" charset="0"/>
              </a:rPr>
              <a:t>Avoid misleading visual elements (e.g., unrelated props, quantity misrepresentation).</a:t>
            </a:r>
          </a:p>
          <a:p>
            <a:r>
              <a:rPr lang="en-US" dirty="0">
                <a:latin typeface="Times New Roman" panose="02020603050405020304" pitchFamily="18" charset="0"/>
                <a:cs typeface="Times New Roman" panose="02020603050405020304" pitchFamily="18" charset="0"/>
              </a:rPr>
              <a:t>Maintain visual clarity, proper framing, and appropriate background.</a:t>
            </a:r>
          </a:p>
          <a:p>
            <a:r>
              <a:rPr lang="en-US" dirty="0">
                <a:latin typeface="Times New Roman" panose="02020603050405020304" pitchFamily="18" charset="0"/>
                <a:cs typeface="Times New Roman" panose="02020603050405020304" pitchFamily="18" charset="0"/>
              </a:rPr>
              <a:t>Contribute to a consistent and trustworthy shopping experience.</a:t>
            </a:r>
          </a:p>
          <a:p>
            <a:pPr marL="76200" indent="0">
              <a:buNone/>
            </a:pPr>
            <a:endParaRPr lang="en-US" b="1" dirty="0">
              <a:latin typeface="Cambria" panose="02040503050406030204" pitchFamily="18" charset="0"/>
              <a:ea typeface="Cambria" panose="02040503050406030204" pitchFamily="18" charset="0"/>
            </a:endParaRPr>
          </a:p>
          <a:p>
            <a:endParaRPr lang="en-IN" dirty="0"/>
          </a:p>
        </p:txBody>
      </p:sp>
    </p:spTree>
    <p:extLst>
      <p:ext uri="{BB962C8B-B14F-4D97-AF65-F5344CB8AC3E}">
        <p14:creationId xmlns:p14="http://schemas.microsoft.com/office/powerpoint/2010/main" val="3230584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C3D65-E185-958E-FE9C-7F247404FEC8}"/>
              </a:ext>
            </a:extLst>
          </p:cNvPr>
          <p:cNvSpPr>
            <a:spLocks noGrp="1"/>
          </p:cNvSpPr>
          <p:nvPr>
            <p:ph type="title"/>
          </p:nvPr>
        </p:nvSpPr>
        <p:spPr/>
        <p:txBody>
          <a:bodyPr/>
          <a:lstStyle/>
          <a:p>
            <a:r>
              <a:rPr lang="en-US" dirty="0"/>
              <a:t>Existing Methods and Drawbacks:</a:t>
            </a:r>
            <a:endParaRPr lang="en-IN" dirty="0"/>
          </a:p>
        </p:txBody>
      </p:sp>
      <p:sp>
        <p:nvSpPr>
          <p:cNvPr id="5" name="Rectangle 1">
            <a:extLst>
              <a:ext uri="{FF2B5EF4-FFF2-40B4-BE49-F238E27FC236}">
                <a16:creationId xmlns:a16="http://schemas.microsoft.com/office/drawing/2014/main" id="{8F89BEE8-CC87-51AE-30DB-B85FF1E23F54}"/>
              </a:ext>
            </a:extLst>
          </p:cNvPr>
          <p:cNvSpPr>
            <a:spLocks noGrp="1" noChangeArrowheads="1"/>
          </p:cNvSpPr>
          <p:nvPr>
            <p:ph type="body"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Table 8">
            <a:extLst>
              <a:ext uri="{FF2B5EF4-FFF2-40B4-BE49-F238E27FC236}">
                <a16:creationId xmlns:a16="http://schemas.microsoft.com/office/drawing/2014/main" id="{CCE8C591-C6AB-A1F8-6CDD-9B25CBFFBAF6}"/>
              </a:ext>
            </a:extLst>
          </p:cNvPr>
          <p:cNvGraphicFramePr>
            <a:graphicFrameLocks noGrp="1"/>
          </p:cNvGraphicFramePr>
          <p:nvPr>
            <p:extLst>
              <p:ext uri="{D42A27DB-BD31-4B8C-83A1-F6EECF244321}">
                <p14:modId xmlns:p14="http://schemas.microsoft.com/office/powerpoint/2010/main" val="1857108767"/>
              </p:ext>
            </p:extLst>
          </p:nvPr>
        </p:nvGraphicFramePr>
        <p:xfrm>
          <a:off x="1058333" y="1642533"/>
          <a:ext cx="9668934" cy="3708400"/>
        </p:xfrm>
        <a:graphic>
          <a:graphicData uri="http://schemas.openxmlformats.org/drawingml/2006/table">
            <a:tbl>
              <a:tblPr firstRow="1" bandRow="1"/>
              <a:tblGrid>
                <a:gridCol w="3217464">
                  <a:extLst>
                    <a:ext uri="{9D8B030D-6E8A-4147-A177-3AD203B41FA5}">
                      <a16:colId xmlns:a16="http://schemas.microsoft.com/office/drawing/2014/main" val="762878010"/>
                    </a:ext>
                  </a:extLst>
                </a:gridCol>
                <a:gridCol w="3225735">
                  <a:extLst>
                    <a:ext uri="{9D8B030D-6E8A-4147-A177-3AD203B41FA5}">
                      <a16:colId xmlns:a16="http://schemas.microsoft.com/office/drawing/2014/main" val="3266478619"/>
                    </a:ext>
                  </a:extLst>
                </a:gridCol>
                <a:gridCol w="3225735">
                  <a:extLst>
                    <a:ext uri="{9D8B030D-6E8A-4147-A177-3AD203B41FA5}">
                      <a16:colId xmlns:a16="http://schemas.microsoft.com/office/drawing/2014/main" val="1458486427"/>
                    </a:ext>
                  </a:extLst>
                </a:gridCol>
              </a:tblGrid>
              <a:tr h="598460">
                <a:tc>
                  <a:txBody>
                    <a:bodyPr/>
                    <a:lstStyle/>
                    <a:p>
                      <a:pPr algn="ctr"/>
                      <a:r>
                        <a:rPr lang="en-US" sz="2000" b="1" dirty="0">
                          <a:latin typeface="Times New Roman" panose="02020603050405020304" pitchFamily="18" charset="0"/>
                          <a:cs typeface="Times New Roman" panose="02020603050405020304" pitchFamily="18" charset="0"/>
                        </a:rPr>
                        <a:t>Method </a:t>
                      </a:r>
                      <a:endParaRPr lang="en-IN" sz="2000" b="1" dirty="0">
                        <a:latin typeface="Times New Roman" panose="02020603050405020304" pitchFamily="18" charset="0"/>
                        <a:cs typeface="Times New Roman" panose="02020603050405020304" pitchFamily="18" charset="0"/>
                      </a:endParaRPr>
                    </a:p>
                  </a:txBody>
                  <a:tcPr/>
                </a:tc>
                <a:tc>
                  <a:txBody>
                    <a:bodyPr/>
                    <a:lstStyle/>
                    <a:p>
                      <a:pPr algn="ctr"/>
                      <a:r>
                        <a:rPr lang="en-US" sz="2000" b="1" dirty="0">
                          <a:latin typeface="Times New Roman" panose="02020603050405020304" pitchFamily="18" charset="0"/>
                          <a:cs typeface="Times New Roman" panose="02020603050405020304" pitchFamily="18" charset="0"/>
                        </a:rPr>
                        <a:t>Description </a:t>
                      </a:r>
                      <a:endParaRPr lang="en-IN" sz="2000" b="1" dirty="0">
                        <a:latin typeface="Times New Roman" panose="02020603050405020304" pitchFamily="18" charset="0"/>
                        <a:cs typeface="Times New Roman" panose="02020603050405020304" pitchFamily="18" charset="0"/>
                      </a:endParaRPr>
                    </a:p>
                  </a:txBody>
                  <a:tcPr/>
                </a:tc>
                <a:tc>
                  <a:txBody>
                    <a:bodyPr/>
                    <a:lstStyle/>
                    <a:p>
                      <a:pPr algn="ctr"/>
                      <a:r>
                        <a:rPr lang="en-US" sz="2000" b="1" dirty="0">
                          <a:latin typeface="Times New Roman" panose="02020603050405020304" pitchFamily="18" charset="0"/>
                          <a:cs typeface="Times New Roman" panose="02020603050405020304" pitchFamily="18" charset="0"/>
                        </a:rPr>
                        <a:t>Drawbacks</a:t>
                      </a:r>
                      <a:endParaRPr lang="en-IN"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41371235"/>
                  </a:ext>
                </a:extLst>
              </a:tr>
              <a:tr h="598460">
                <a:tc>
                  <a:txBody>
                    <a:bodyPr/>
                    <a:lstStyle/>
                    <a:p>
                      <a:r>
                        <a:rPr lang="en-US" sz="2000" b="1" dirty="0">
                          <a:latin typeface="Times New Roman" panose="02020603050405020304" pitchFamily="18" charset="0"/>
                          <a:cs typeface="Times New Roman" panose="02020603050405020304" pitchFamily="18" charset="0"/>
                        </a:rPr>
                        <a:t>Manual Review</a:t>
                      </a:r>
                      <a:endParaRPr lang="en-IN" sz="2000" b="1"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Humans check images for accuracy</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Slow, costly, inconsistent, not scalable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57720414"/>
                  </a:ext>
                </a:extLst>
              </a:tr>
              <a:tr h="627870">
                <a:tc>
                  <a:txBody>
                    <a:bodyPr/>
                    <a:lstStyle/>
                    <a:p>
                      <a:r>
                        <a:rPr lang="en-US" sz="2000" b="1" dirty="0">
                          <a:latin typeface="Times New Roman" panose="02020603050405020304" pitchFamily="18" charset="0"/>
                          <a:cs typeface="Times New Roman" panose="02020603050405020304" pitchFamily="18" charset="0"/>
                        </a:rPr>
                        <a:t>Rule-Based Checks</a:t>
                      </a:r>
                      <a:endParaRPr lang="en-IN" sz="2000" b="1"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Automated checks on size, format, background</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Only catches basic errors; no content understanding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28762757"/>
                  </a:ext>
                </a:extLst>
              </a:tr>
              <a:tr h="627870">
                <a:tc>
                  <a:txBody>
                    <a:bodyPr/>
                    <a:lstStyle/>
                    <a:p>
                      <a:r>
                        <a:rPr lang="en-US" sz="2000" b="1" dirty="0">
                          <a:latin typeface="Times New Roman" panose="02020603050405020304" pitchFamily="18" charset="0"/>
                          <a:cs typeface="Times New Roman" panose="02020603050405020304" pitchFamily="18" charset="0"/>
                        </a:rPr>
                        <a:t>AI Image Models</a:t>
                      </a:r>
                      <a:endParaRPr lang="en-IN" sz="2000" b="1"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ML models detect product type/features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Needs large data; errors on rare or new items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72395821"/>
                  </a:ext>
                </a:extLst>
              </a:tr>
              <a:tr h="627870">
                <a:tc>
                  <a:txBody>
                    <a:bodyPr/>
                    <a:lstStyle/>
                    <a:p>
                      <a:r>
                        <a:rPr lang="en-US" sz="2000" b="1" dirty="0">
                          <a:latin typeface="Times New Roman" panose="02020603050405020304" pitchFamily="18" charset="0"/>
                          <a:cs typeface="Times New Roman" panose="02020603050405020304" pitchFamily="18" charset="0"/>
                        </a:rPr>
                        <a:t>Text-Image Matching</a:t>
                      </a:r>
                      <a:endParaRPr lang="en-IN" sz="2000" b="1"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AI compares images with titles/descriptions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Confused by similar items; needs tuning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56113443"/>
                  </a:ext>
                </a:extLst>
              </a:tr>
              <a:tr h="627870">
                <a:tc>
                  <a:txBody>
                    <a:bodyPr/>
                    <a:lstStyle/>
                    <a:p>
                      <a:r>
                        <a:rPr lang="en-US" sz="2000" b="1" dirty="0">
                          <a:latin typeface="Times New Roman" panose="02020603050405020304" pitchFamily="18" charset="0"/>
                          <a:cs typeface="Times New Roman" panose="02020603050405020304" pitchFamily="18" charset="0"/>
                        </a:rPr>
                        <a:t>Customer Feedback</a:t>
                      </a:r>
                      <a:endParaRPr lang="en-IN" sz="2000" b="1"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Buyers report incorrect images</a:t>
                      </a:r>
                    </a:p>
                  </a:txBody>
                  <a:tcPr/>
                </a:tc>
                <a:tc>
                  <a:txBody>
                    <a:bodyPr/>
                    <a:lstStyle/>
                    <a:p>
                      <a:r>
                        <a:rPr lang="en-IN" dirty="0">
                          <a:latin typeface="Times New Roman" panose="02020603050405020304" pitchFamily="18" charset="0"/>
                          <a:cs typeface="Times New Roman" panose="02020603050405020304" pitchFamily="18" charset="0"/>
                        </a:rPr>
                        <a:t>Reactive approach; user dissatisfaction occurs</a:t>
                      </a:r>
                    </a:p>
                  </a:txBody>
                  <a:tcPr/>
                </a:tc>
                <a:extLst>
                  <a:ext uri="{0D108BD9-81ED-4DB2-BD59-A6C34878D82A}">
                    <a16:rowId xmlns:a16="http://schemas.microsoft.com/office/drawing/2014/main" val="3965318077"/>
                  </a:ext>
                </a:extLst>
              </a:tr>
            </a:tbl>
          </a:graphicData>
        </a:graphic>
      </p:graphicFrame>
    </p:spTree>
    <p:extLst>
      <p:ext uri="{BB962C8B-B14F-4D97-AF65-F5344CB8AC3E}">
        <p14:creationId xmlns:p14="http://schemas.microsoft.com/office/powerpoint/2010/main" val="562929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B534F-B724-74AA-4B4F-5D53A38B122F}"/>
              </a:ext>
            </a:extLst>
          </p:cNvPr>
          <p:cNvSpPr>
            <a:spLocks noGrp="1"/>
          </p:cNvSpPr>
          <p:nvPr>
            <p:ph type="title"/>
          </p:nvPr>
        </p:nvSpPr>
        <p:spPr/>
        <p:txBody>
          <a:bodyPr/>
          <a:lstStyle/>
          <a:p>
            <a:r>
              <a:rPr lang="en-US" dirty="0"/>
              <a:t>Proposed Method and Feasibility:</a:t>
            </a:r>
            <a:endParaRPr lang="en-IN" dirty="0"/>
          </a:p>
        </p:txBody>
      </p:sp>
      <p:sp>
        <p:nvSpPr>
          <p:cNvPr id="3" name="Text Placeholder 2">
            <a:extLst>
              <a:ext uri="{FF2B5EF4-FFF2-40B4-BE49-F238E27FC236}">
                <a16:creationId xmlns:a16="http://schemas.microsoft.com/office/drawing/2014/main" id="{E6744E29-4E1B-DB72-3B05-35F22A89DEDA}"/>
              </a:ext>
            </a:extLst>
          </p:cNvPr>
          <p:cNvSpPr>
            <a:spLocks noGrp="1"/>
          </p:cNvSpPr>
          <p:nvPr>
            <p:ph type="body" idx="1"/>
          </p:nvPr>
        </p:nvSpPr>
        <p:spPr/>
        <p:txBody>
          <a:bodyPr>
            <a:normAutofit/>
          </a:bodyPr>
          <a:lstStyle/>
          <a:p>
            <a:pPr marL="76200" indent="0">
              <a:buNone/>
            </a:pPr>
            <a:r>
              <a:rPr lang="en-IN" sz="2000" b="1" dirty="0">
                <a:latin typeface="Times New Roman" panose="02020603050405020304" pitchFamily="18" charset="0"/>
                <a:cs typeface="Times New Roman" panose="02020603050405020304" pitchFamily="18" charset="0"/>
              </a:rPr>
              <a:t>1. Image Content Analysis (Computer Vision)</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Detect product type, count, and visual quality</a:t>
            </a:r>
          </a:p>
          <a:p>
            <a:r>
              <a:rPr lang="en-IN" sz="2000" dirty="0">
                <a:latin typeface="Times New Roman" panose="02020603050405020304" pitchFamily="18" charset="0"/>
                <a:cs typeface="Times New Roman" panose="02020603050405020304" pitchFamily="18" charset="0"/>
              </a:rPr>
              <a:t>Identify misleading props, incorrect quantity</a:t>
            </a:r>
          </a:p>
          <a:p>
            <a:pPr marL="76200" indent="0">
              <a:buNone/>
            </a:pPr>
            <a:r>
              <a:rPr lang="en-IN" sz="2000" b="1" dirty="0">
                <a:latin typeface="Times New Roman" panose="02020603050405020304" pitchFamily="18" charset="0"/>
                <a:cs typeface="Times New Roman" panose="02020603050405020304" pitchFamily="18" charset="0"/>
              </a:rPr>
              <a:t>2. Text-Image Matching (Multimodal AI)</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Use models like </a:t>
            </a:r>
            <a:r>
              <a:rPr lang="en-IN" sz="2000" b="1" dirty="0">
                <a:latin typeface="Times New Roman" panose="02020603050405020304" pitchFamily="18" charset="0"/>
                <a:cs typeface="Times New Roman" panose="02020603050405020304" pitchFamily="18" charset="0"/>
              </a:rPr>
              <a:t>CLIP</a:t>
            </a:r>
            <a:r>
              <a:rPr lang="en-IN" sz="2000" dirty="0">
                <a:latin typeface="Times New Roman" panose="02020603050405020304" pitchFamily="18" charset="0"/>
                <a:cs typeface="Times New Roman" panose="02020603050405020304" pitchFamily="18" charset="0"/>
              </a:rPr>
              <a:t> to compare image with title/description</a:t>
            </a:r>
          </a:p>
          <a:p>
            <a:r>
              <a:rPr lang="en-IN" sz="2000" dirty="0">
                <a:latin typeface="Times New Roman" panose="02020603050405020304" pitchFamily="18" charset="0"/>
                <a:cs typeface="Times New Roman" panose="02020603050405020304" pitchFamily="18" charset="0"/>
              </a:rPr>
              <a:t>Flag mismatches (e.g., "Red Dress" but shows Blue Shirt)</a:t>
            </a:r>
          </a:p>
          <a:p>
            <a:pPr marL="76200" indent="0">
              <a:buNone/>
            </a:pPr>
            <a:r>
              <a:rPr lang="en-IN" sz="2000" b="1" dirty="0">
                <a:latin typeface="Times New Roman" panose="02020603050405020304" pitchFamily="18" charset="0"/>
                <a:cs typeface="Times New Roman" panose="02020603050405020304" pitchFamily="18" charset="0"/>
              </a:rPr>
              <a:t>3. Rule-Based Validation</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Resolution, format, background checks</a:t>
            </a:r>
          </a:p>
          <a:p>
            <a:r>
              <a:rPr lang="en-IN" sz="2000" dirty="0">
                <a:latin typeface="Times New Roman" panose="02020603050405020304" pitchFamily="18" charset="0"/>
                <a:cs typeface="Times New Roman" panose="02020603050405020304" pitchFamily="18" charset="0"/>
              </a:rPr>
              <a:t>Watermark/logo detection</a:t>
            </a:r>
          </a:p>
          <a:p>
            <a:pPr marL="76200" indent="0">
              <a:buNone/>
            </a:pPr>
            <a:r>
              <a:rPr lang="en-IN" sz="2000" b="1" dirty="0">
                <a:latin typeface="Times New Roman" panose="02020603050405020304" pitchFamily="18" charset="0"/>
                <a:cs typeface="Times New Roman" panose="02020603050405020304" pitchFamily="18" charset="0"/>
              </a:rPr>
              <a:t>4. Confidence Scoring</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Combine all checks into a </a:t>
            </a:r>
            <a:r>
              <a:rPr lang="en-IN" sz="2000" b="1" dirty="0">
                <a:latin typeface="Times New Roman" panose="02020603050405020304" pitchFamily="18" charset="0"/>
                <a:cs typeface="Times New Roman" panose="02020603050405020304" pitchFamily="18" charset="0"/>
              </a:rPr>
              <a:t>score (0–100)</a:t>
            </a:r>
            <a:endParaRPr lang="en-IN" sz="2000" dirty="0">
              <a:latin typeface="Times New Roman" panose="02020603050405020304" pitchFamily="18" charset="0"/>
              <a:cs typeface="Times New Roman" panose="02020603050405020304" pitchFamily="18" charset="0"/>
            </a:endParaRPr>
          </a:p>
          <a:p>
            <a:pPr marL="76200" indent="0">
              <a:buNone/>
            </a:pPr>
            <a:endParaRPr lang="en-IN" dirty="0"/>
          </a:p>
        </p:txBody>
      </p:sp>
    </p:spTree>
    <p:extLst>
      <p:ext uri="{BB962C8B-B14F-4D97-AF65-F5344CB8AC3E}">
        <p14:creationId xmlns:p14="http://schemas.microsoft.com/office/powerpoint/2010/main" val="3282252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27695-4084-EE17-D3A6-F57B4A5B51C2}"/>
              </a:ext>
            </a:extLst>
          </p:cNvPr>
          <p:cNvSpPr>
            <a:spLocks noGrp="1"/>
          </p:cNvSpPr>
          <p:nvPr>
            <p:ph type="title"/>
          </p:nvPr>
        </p:nvSpPr>
        <p:spPr/>
        <p:txBody>
          <a:bodyPr/>
          <a:lstStyle/>
          <a:p>
            <a:r>
              <a:rPr lang="en-US" dirty="0"/>
              <a:t>Feasibility:</a:t>
            </a:r>
            <a:endParaRPr lang="en-IN" dirty="0"/>
          </a:p>
        </p:txBody>
      </p:sp>
      <p:sp>
        <p:nvSpPr>
          <p:cNvPr id="3" name="Text Placeholder 2">
            <a:extLst>
              <a:ext uri="{FF2B5EF4-FFF2-40B4-BE49-F238E27FC236}">
                <a16:creationId xmlns:a16="http://schemas.microsoft.com/office/drawing/2014/main" id="{A5D1A5FB-3D27-65CD-0702-91A74E7EBE8A}"/>
              </a:ext>
            </a:extLst>
          </p:cNvPr>
          <p:cNvSpPr>
            <a:spLocks noGrp="1"/>
          </p:cNvSpPr>
          <p:nvPr>
            <p:ph type="body" idx="1"/>
          </p:nvPr>
        </p:nvSpPr>
        <p:spPr/>
        <p:txBody>
          <a:bodyPr>
            <a:normAutofit/>
          </a:bodyPr>
          <a:lstStyle/>
          <a:p>
            <a:pPr marL="76200" indent="0">
              <a:buNone/>
            </a:pPr>
            <a:r>
              <a:rPr lang="en-US" sz="2000" b="1" dirty="0">
                <a:latin typeface="Times New Roman" panose="02020603050405020304" pitchFamily="18" charset="0"/>
                <a:cs typeface="Times New Roman" panose="02020603050405020304" pitchFamily="18" charset="0"/>
              </a:rPr>
              <a:t>Technical Feasibility:</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Uses pre-trained AI models (e.g., CLIP, YOLO)</a:t>
            </a:r>
          </a:p>
          <a:p>
            <a:r>
              <a:rPr lang="en-US" sz="2000" dirty="0">
                <a:latin typeface="Times New Roman" panose="02020603050405020304" pitchFamily="18" charset="0"/>
                <a:cs typeface="Times New Roman" panose="02020603050405020304" pitchFamily="18" charset="0"/>
              </a:rPr>
              <a:t>Can be deployed on cloud or local servers</a:t>
            </a:r>
          </a:p>
          <a:p>
            <a:r>
              <a:rPr lang="en-US" sz="2000" dirty="0">
                <a:latin typeface="Times New Roman" panose="02020603050405020304" pitchFamily="18" charset="0"/>
                <a:cs typeface="Times New Roman" panose="02020603050405020304" pitchFamily="18" charset="0"/>
              </a:rPr>
              <a:t>Integrates smoothly with existing marketplace systems</a:t>
            </a:r>
          </a:p>
          <a:p>
            <a:pPr marL="76200" indent="0">
              <a:buNone/>
            </a:pPr>
            <a:r>
              <a:rPr lang="en-US" sz="2000" b="1" dirty="0">
                <a:latin typeface="Times New Roman" panose="02020603050405020304" pitchFamily="18" charset="0"/>
                <a:cs typeface="Times New Roman" panose="02020603050405020304" pitchFamily="18" charset="0"/>
              </a:rPr>
              <a:t>Operational Feasibility:</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Requires minimal human review for unclear cases</a:t>
            </a:r>
          </a:p>
          <a:p>
            <a:r>
              <a:rPr lang="en-US" sz="2000" dirty="0">
                <a:latin typeface="Times New Roman" panose="02020603050405020304" pitchFamily="18" charset="0"/>
                <a:cs typeface="Times New Roman" panose="02020603050405020304" pitchFamily="18" charset="0"/>
              </a:rPr>
              <a:t>Scales easily with growing listings</a:t>
            </a:r>
          </a:p>
          <a:p>
            <a:r>
              <a:rPr lang="en-US" sz="2000" dirty="0">
                <a:latin typeface="Times New Roman" panose="02020603050405020304" pitchFamily="18" charset="0"/>
                <a:cs typeface="Times New Roman" panose="02020603050405020304" pitchFamily="18" charset="0"/>
              </a:rPr>
              <a:t>Fast processing with batch or real-time options</a:t>
            </a:r>
          </a:p>
          <a:p>
            <a:pPr marL="76200" indent="0">
              <a:buNone/>
            </a:pPr>
            <a:r>
              <a:rPr lang="en-US" sz="2000" b="1" dirty="0">
                <a:latin typeface="Times New Roman" panose="02020603050405020304" pitchFamily="18" charset="0"/>
                <a:cs typeface="Times New Roman" panose="02020603050405020304" pitchFamily="18" charset="0"/>
              </a:rPr>
              <a:t>Economic Feasibility:</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Moderate initial development cost</a:t>
            </a:r>
          </a:p>
          <a:p>
            <a:r>
              <a:rPr lang="en-US" sz="2000" dirty="0">
                <a:latin typeface="Times New Roman" panose="02020603050405020304" pitchFamily="18" charset="0"/>
                <a:cs typeface="Times New Roman" panose="02020603050405020304" pitchFamily="18" charset="0"/>
              </a:rPr>
              <a:t>Manageable ongoing compute expenses</a:t>
            </a:r>
          </a:p>
          <a:p>
            <a:r>
              <a:rPr lang="en-US" sz="2000" dirty="0">
                <a:latin typeface="Times New Roman" panose="02020603050405020304" pitchFamily="18" charset="0"/>
                <a:cs typeface="Times New Roman" panose="02020603050405020304" pitchFamily="18" charset="0"/>
              </a:rPr>
              <a:t>Reduces costs from returns and customer complaints</a:t>
            </a:r>
          </a:p>
          <a:p>
            <a:endParaRPr lang="en-IN" dirty="0"/>
          </a:p>
        </p:txBody>
      </p:sp>
    </p:spTree>
    <p:extLst>
      <p:ext uri="{BB962C8B-B14F-4D97-AF65-F5344CB8AC3E}">
        <p14:creationId xmlns:p14="http://schemas.microsoft.com/office/powerpoint/2010/main" val="1908029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912A4-05F0-466D-984C-CFE5D252FA95}"/>
              </a:ext>
            </a:extLst>
          </p:cNvPr>
          <p:cNvSpPr>
            <a:spLocks noGrp="1"/>
          </p:cNvSpPr>
          <p:nvPr>
            <p:ph type="title"/>
          </p:nvPr>
        </p:nvSpPr>
        <p:spPr/>
        <p:txBody>
          <a:bodyPr/>
          <a:lstStyle/>
          <a:p>
            <a:r>
              <a:rPr lang="en-US" dirty="0"/>
              <a:t>S</a:t>
            </a:r>
            <a:r>
              <a:rPr lang="en-IN" dirty="0" err="1"/>
              <a:t>ystem</a:t>
            </a:r>
            <a:r>
              <a:rPr lang="en-IN" dirty="0"/>
              <a:t> Architecture:</a:t>
            </a:r>
          </a:p>
        </p:txBody>
      </p:sp>
      <p:sp>
        <p:nvSpPr>
          <p:cNvPr id="3" name="Text Placeholder 2">
            <a:extLst>
              <a:ext uri="{FF2B5EF4-FFF2-40B4-BE49-F238E27FC236}">
                <a16:creationId xmlns:a16="http://schemas.microsoft.com/office/drawing/2014/main" id="{F1D30E3A-8FC8-426D-863D-BBA587617D70}"/>
              </a:ext>
            </a:extLst>
          </p:cNvPr>
          <p:cNvSpPr>
            <a:spLocks noGrp="1"/>
          </p:cNvSpPr>
          <p:nvPr>
            <p:ph type="body" idx="1"/>
          </p:nvPr>
        </p:nvSpPr>
        <p:spPr/>
        <p:txBody>
          <a:bodyPr/>
          <a:lstStyle/>
          <a:p>
            <a:pPr marL="76200" indent="0">
              <a:buNone/>
            </a:pPr>
            <a:endParaRPr lang="en-US" b="1" u="sng" dirty="0">
              <a:latin typeface="Cambria" panose="02040503050406030204" pitchFamily="18" charset="0"/>
              <a:ea typeface="Cambria" panose="02040503050406030204" pitchFamily="18" charset="0"/>
            </a:endParaRPr>
          </a:p>
          <a:p>
            <a:endParaRPr lang="en-IN" dirty="0"/>
          </a:p>
        </p:txBody>
      </p:sp>
      <p:pic>
        <p:nvPicPr>
          <p:cNvPr id="5" name="Picture 4">
            <a:extLst>
              <a:ext uri="{FF2B5EF4-FFF2-40B4-BE49-F238E27FC236}">
                <a16:creationId xmlns:a16="http://schemas.microsoft.com/office/drawing/2014/main" id="{17FD141D-6088-47DA-8FA0-3FFEAD40BB73}"/>
              </a:ext>
            </a:extLst>
          </p:cNvPr>
          <p:cNvPicPr>
            <a:picLocks noChangeAspect="1"/>
          </p:cNvPicPr>
          <p:nvPr/>
        </p:nvPicPr>
        <p:blipFill>
          <a:blip r:embed="rId2"/>
          <a:stretch>
            <a:fillRect/>
          </a:stretch>
        </p:blipFill>
        <p:spPr>
          <a:xfrm>
            <a:off x="2692400" y="1058333"/>
            <a:ext cx="3979333" cy="5249334"/>
          </a:xfrm>
          <a:prstGeom prst="rect">
            <a:avLst/>
          </a:prstGeom>
        </p:spPr>
      </p:pic>
    </p:spTree>
    <p:extLst>
      <p:ext uri="{BB962C8B-B14F-4D97-AF65-F5344CB8AC3E}">
        <p14:creationId xmlns:p14="http://schemas.microsoft.com/office/powerpoint/2010/main" val="309485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2D34E-A2D0-FB0D-D18F-994A645D15AA}"/>
              </a:ext>
            </a:extLst>
          </p:cNvPr>
          <p:cNvSpPr>
            <a:spLocks noGrp="1"/>
          </p:cNvSpPr>
          <p:nvPr>
            <p:ph type="title"/>
          </p:nvPr>
        </p:nvSpPr>
        <p:spPr/>
        <p:txBody>
          <a:bodyPr/>
          <a:lstStyle/>
          <a:p>
            <a:r>
              <a:rPr lang="en-US" dirty="0"/>
              <a:t>System Modules:</a:t>
            </a:r>
            <a:endParaRPr lang="en-IN" dirty="0"/>
          </a:p>
        </p:txBody>
      </p:sp>
      <p:sp>
        <p:nvSpPr>
          <p:cNvPr id="4" name="Rectangle 1">
            <a:extLst>
              <a:ext uri="{FF2B5EF4-FFF2-40B4-BE49-F238E27FC236}">
                <a16:creationId xmlns:a16="http://schemas.microsoft.com/office/drawing/2014/main" id="{3357B649-2FE1-6615-04CF-7B688AD97AF9}"/>
              </a:ext>
            </a:extLst>
          </p:cNvPr>
          <p:cNvSpPr>
            <a:spLocks noGrp="1" noChangeArrowheads="1"/>
          </p:cNvSpPr>
          <p:nvPr>
            <p:ph type="body" idx="1"/>
          </p:nvPr>
        </p:nvSpPr>
        <p:spPr bwMode="auto">
          <a:xfrm>
            <a:off x="812800" y="1280399"/>
            <a:ext cx="7439857"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Image Preprocessing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Resize, normalize, and clean input images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Object Detection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product type and count items in the image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Text Processing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 and clean product title and description text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Text-Image Matching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AI (e.g., CLIP) to compare image content with text</a:t>
            </a:r>
          </a:p>
          <a:p>
            <a:pPr marL="0" marR="0" lvl="0" indent="0" algn="l" defTabSz="914400" rtl="0" eaLnBrk="0" fontAlgn="base" latinLnBrk="0" hangingPunct="0">
              <a:lnSpc>
                <a:spcPct val="100000"/>
              </a:lnSpc>
              <a:spcBef>
                <a:spcPct val="0"/>
              </a:spcBef>
              <a:spcAft>
                <a:spcPct val="0"/>
              </a:spcAft>
              <a:buClrTx/>
              <a:buSzTx/>
              <a:buNone/>
              <a:tabLst/>
            </a:pPr>
            <a:r>
              <a:rPr lang="en-US" altLang="en-US" sz="2000" b="1" dirty="0">
                <a:solidFill>
                  <a:schemeClr val="tx1"/>
                </a:solidFill>
                <a:latin typeface="Times New Roman" panose="02020603050405020304" pitchFamily="18" charset="0"/>
                <a:cs typeface="Times New Roman" panose="02020603050405020304" pitchFamily="18" charset="0"/>
              </a:rPr>
              <a:t>5.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Rule-Based Validation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Check image quality, resolution, background, and watermarks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Confidence Scoring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Combine outputs from all modules into a final correctness score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  Decision &amp; Action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Automatically accept, flag for review, or reject images based on score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18273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lnSpcReduction="10000"/>
          </a:bodyPr>
          <a:lstStyle/>
          <a:p>
            <a:pPr marL="342900" lvl="0" indent="-190500" algn="just">
              <a:spcBef>
                <a:spcPts val="0"/>
              </a:spcBef>
              <a:buNone/>
            </a:pPr>
            <a:r>
              <a:rPr lang="en-US" sz="2000" b="1" dirty="0">
                <a:latin typeface="Times New Roman" panose="02020603050405020304" pitchFamily="18" charset="0"/>
                <a:ea typeface="Cambria" panose="02040503050406030204" pitchFamily="18" charset="0"/>
                <a:cs typeface="Times New Roman" panose="02020603050405020304" pitchFamily="18" charset="0"/>
              </a:rPr>
              <a:t>Organization: </a:t>
            </a:r>
            <a:r>
              <a:rPr lang="en-US" sz="2000" dirty="0">
                <a:latin typeface="Times New Roman" panose="02020603050405020304" pitchFamily="18" charset="0"/>
                <a:ea typeface="Cambria" panose="02040503050406030204" pitchFamily="18" charset="0"/>
                <a:cs typeface="Times New Roman" panose="02020603050405020304" pitchFamily="18" charset="0"/>
              </a:rPr>
              <a:t>Online E-Commerce Websites(</a:t>
            </a:r>
            <a:r>
              <a:rPr lang="en-US" sz="2000" dirty="0" err="1">
                <a:latin typeface="Times New Roman" panose="02020603050405020304" pitchFamily="18" charset="0"/>
                <a:ea typeface="Cambria" panose="02040503050406030204" pitchFamily="18" charset="0"/>
                <a:cs typeface="Times New Roman" panose="02020603050405020304" pitchFamily="18" charset="0"/>
              </a:rPr>
              <a:t>Amazon,Myntra,Flipkart,Ajio</a:t>
            </a:r>
            <a:r>
              <a:rPr lang="en-US" sz="2000" dirty="0">
                <a:latin typeface="Times New Roman" panose="02020603050405020304" pitchFamily="18" charset="0"/>
                <a:ea typeface="Cambria" panose="02040503050406030204" pitchFamily="18" charset="0"/>
                <a:cs typeface="Times New Roman" panose="02020603050405020304" pitchFamily="18" charset="0"/>
              </a:rPr>
              <a:t>)</a:t>
            </a:r>
          </a:p>
          <a:p>
            <a:pPr marL="342900" lvl="0" indent="-190500" algn="just">
              <a:lnSpc>
                <a:spcPct val="200000"/>
              </a:lnSpc>
              <a:spcBef>
                <a:spcPts val="0"/>
              </a:spcBef>
              <a:buNone/>
            </a:pPr>
            <a:r>
              <a:rPr lang="en-US" sz="2000" b="1" dirty="0">
                <a:latin typeface="Times New Roman" panose="02020603050405020304" pitchFamily="18" charset="0"/>
                <a:ea typeface="Cambria" panose="02040503050406030204" pitchFamily="18" charset="0"/>
                <a:cs typeface="Times New Roman" panose="02020603050405020304" pitchFamily="18" charset="0"/>
              </a:rPr>
              <a:t>Category : </a:t>
            </a:r>
            <a:r>
              <a:rPr lang="en-US" sz="2000" dirty="0">
                <a:latin typeface="Times New Roman" panose="02020603050405020304" pitchFamily="18" charset="0"/>
                <a:ea typeface="Cambria" panose="02040503050406030204" pitchFamily="18" charset="0"/>
                <a:cs typeface="Times New Roman" panose="02020603050405020304" pitchFamily="18" charset="0"/>
              </a:rPr>
              <a:t>Software</a:t>
            </a:r>
          </a:p>
          <a:p>
            <a:pPr marL="342900" lvl="0" indent="-190500" algn="just">
              <a:lnSpc>
                <a:spcPct val="200000"/>
              </a:lnSpc>
              <a:spcBef>
                <a:spcPts val="0"/>
              </a:spcBef>
              <a:buNone/>
            </a:pPr>
            <a:r>
              <a:rPr lang="en-US" sz="2000" b="1" dirty="0">
                <a:latin typeface="Times New Roman" panose="02020603050405020304" pitchFamily="18" charset="0"/>
                <a:ea typeface="Cambria" panose="02040503050406030204" pitchFamily="18" charset="0"/>
                <a:cs typeface="Times New Roman" panose="02020603050405020304" pitchFamily="18" charset="0"/>
              </a:rPr>
              <a:t>Problem Description:</a:t>
            </a: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Product Name: Wireless Bluetooth Headphones – Noise Cancelling Over-Ear</a:t>
            </a:r>
          </a:p>
          <a:p>
            <a:r>
              <a:rPr lang="en-US" sz="2200" dirty="0">
                <a:latin typeface="Times New Roman" panose="02020603050405020304" pitchFamily="18" charset="0"/>
                <a:cs typeface="Times New Roman" panose="02020603050405020304" pitchFamily="18" charset="0"/>
              </a:rPr>
              <a:t>Category: Electronics → Audio Devices</a:t>
            </a:r>
          </a:p>
          <a:p>
            <a:r>
              <a:rPr lang="en-US" sz="2200" dirty="0">
                <a:latin typeface="Times New Roman" panose="02020603050405020304" pitchFamily="18" charset="0"/>
                <a:cs typeface="Times New Roman" panose="02020603050405020304" pitchFamily="18" charset="0"/>
              </a:rPr>
              <a:t>Description:</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Experience high-quality sound with our Wireless Bluetooth Headphones designed for comfort and clarity. Featuring active noise cancellation (ANC), long-lasting 30-hour battery life, and cushioned over-ear design, these headphones are perfect for music, calls, and gaming</a:t>
            </a:r>
            <a:r>
              <a:rPr lang="en-US" dirty="0"/>
              <a:t>.</a:t>
            </a: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E3F16109-550F-42EA-9A41-A8A2E328BBC1}"/>
              </a:ext>
            </a:extLst>
          </p:cNvPr>
          <p:cNvSpPr>
            <a:spLocks noChangeArrowheads="1"/>
          </p:cNvSpPr>
          <p:nvPr/>
        </p:nvSpPr>
        <p:spPr bwMode="auto">
          <a:xfrm>
            <a:off x="1138518" y="2603838"/>
            <a:ext cx="537198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for automated, scalable image validation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Incorrect or irrelevant product images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moderation: slow, costly, and error-prone</a:t>
            </a:r>
          </a:p>
        </p:txBody>
      </p:sp>
    </p:spTree>
    <p:extLst>
      <p:ext uri="{BB962C8B-B14F-4D97-AF65-F5344CB8AC3E}">
        <p14:creationId xmlns:p14="http://schemas.microsoft.com/office/powerpoint/2010/main" val="2143451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ECB76-5BB2-1D37-C9D6-955843123CA5}"/>
              </a:ext>
            </a:extLst>
          </p:cNvPr>
          <p:cNvSpPr>
            <a:spLocks noGrp="1"/>
          </p:cNvSpPr>
          <p:nvPr>
            <p:ph type="title"/>
          </p:nvPr>
        </p:nvSpPr>
        <p:spPr/>
        <p:txBody>
          <a:bodyPr/>
          <a:lstStyle/>
          <a:p>
            <a:r>
              <a:rPr lang="en-US" dirty="0"/>
              <a:t>Hardware and Software details:</a:t>
            </a:r>
            <a:endParaRPr lang="en-IN" dirty="0"/>
          </a:p>
        </p:txBody>
      </p:sp>
      <p:sp>
        <p:nvSpPr>
          <p:cNvPr id="3" name="Text Placeholder 2">
            <a:extLst>
              <a:ext uri="{FF2B5EF4-FFF2-40B4-BE49-F238E27FC236}">
                <a16:creationId xmlns:a16="http://schemas.microsoft.com/office/drawing/2014/main" id="{FE6C15AD-A0F0-883D-2360-185E1FC8894C}"/>
              </a:ext>
            </a:extLst>
          </p:cNvPr>
          <p:cNvSpPr>
            <a:spLocks noGrp="1"/>
          </p:cNvSpPr>
          <p:nvPr>
            <p:ph type="body" idx="1"/>
          </p:nvPr>
        </p:nvSpPr>
        <p:spPr/>
        <p:txBody>
          <a:bodyPr>
            <a:normAutofit fontScale="77500" lnSpcReduction="20000"/>
          </a:bodyPr>
          <a:lstStyle/>
          <a:p>
            <a:pPr marL="76200" indent="0">
              <a:buNone/>
            </a:pPr>
            <a:r>
              <a:rPr lang="en-IN" b="1" dirty="0">
                <a:latin typeface="Times New Roman" panose="02020603050405020304" pitchFamily="18" charset="0"/>
                <a:cs typeface="Times New Roman" panose="02020603050405020304" pitchFamily="18" charset="0"/>
              </a:rPr>
              <a:t>Software Requirements</a:t>
            </a:r>
          </a:p>
          <a:p>
            <a:r>
              <a:rPr lang="en-IN" b="1" dirty="0">
                <a:latin typeface="Times New Roman" panose="02020603050405020304" pitchFamily="18" charset="0"/>
                <a:cs typeface="Times New Roman" panose="02020603050405020304" pitchFamily="18" charset="0"/>
              </a:rPr>
              <a:t>Language:</a:t>
            </a:r>
            <a:r>
              <a:rPr lang="en-IN" dirty="0">
                <a:latin typeface="Times New Roman" panose="02020603050405020304" pitchFamily="18" charset="0"/>
                <a:cs typeface="Times New Roman" panose="02020603050405020304" pitchFamily="18" charset="0"/>
              </a:rPr>
              <a:t> Python</a:t>
            </a:r>
          </a:p>
          <a:p>
            <a:r>
              <a:rPr lang="en-IN" b="1" dirty="0">
                <a:latin typeface="Times New Roman" panose="02020603050405020304" pitchFamily="18" charset="0"/>
                <a:cs typeface="Times New Roman" panose="02020603050405020304" pitchFamily="18" charset="0"/>
              </a:rPr>
              <a:t>AI Models:</a:t>
            </a:r>
            <a:r>
              <a:rPr lang="en-IN" dirty="0">
                <a:latin typeface="Times New Roman" panose="02020603050405020304" pitchFamily="18" charset="0"/>
                <a:cs typeface="Times New Roman" panose="02020603050405020304" pitchFamily="18" charset="0"/>
              </a:rPr>
              <a:t> CLIP, YOLOv8, BLIP</a:t>
            </a:r>
          </a:p>
          <a:p>
            <a:r>
              <a:rPr lang="en-IN" b="1" dirty="0">
                <a:latin typeface="Times New Roman" panose="02020603050405020304" pitchFamily="18" charset="0"/>
                <a:cs typeface="Times New Roman" panose="02020603050405020304" pitchFamily="18" charset="0"/>
              </a:rPr>
              <a:t>Frameworks: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PyTorch</a:t>
            </a:r>
            <a:r>
              <a:rPr lang="en-IN" dirty="0">
                <a:latin typeface="Times New Roman" panose="02020603050405020304" pitchFamily="18" charset="0"/>
                <a:cs typeface="Times New Roman" panose="02020603050405020304" pitchFamily="18" charset="0"/>
              </a:rPr>
              <a:t> or TensorFlow</a:t>
            </a:r>
          </a:p>
          <a:p>
            <a:r>
              <a:rPr lang="en-IN" b="1" dirty="0">
                <a:latin typeface="Times New Roman" panose="02020603050405020304" pitchFamily="18" charset="0"/>
                <a:cs typeface="Times New Roman" panose="02020603050405020304" pitchFamily="18" charset="0"/>
              </a:rPr>
              <a:t>Web/API:</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or Flask</a:t>
            </a:r>
          </a:p>
          <a:p>
            <a:r>
              <a:rPr lang="en-IN" b="1" dirty="0">
                <a:latin typeface="Times New Roman" panose="02020603050405020304" pitchFamily="18" charset="0"/>
                <a:cs typeface="Times New Roman" panose="02020603050405020304" pitchFamily="18" charset="0"/>
              </a:rPr>
              <a:t>Text Tools:</a:t>
            </a:r>
            <a:r>
              <a:rPr lang="en-IN" dirty="0">
                <a:latin typeface="Times New Roman" panose="02020603050405020304" pitchFamily="18" charset="0"/>
                <a:cs typeface="Times New Roman" panose="02020603050405020304" pitchFamily="18" charset="0"/>
              </a:rPr>
              <a:t> Hugging Face (for NLP)</a:t>
            </a:r>
          </a:p>
          <a:p>
            <a:r>
              <a:rPr lang="en-IN" b="1" dirty="0">
                <a:latin typeface="Times New Roman" panose="02020603050405020304" pitchFamily="18" charset="0"/>
                <a:cs typeface="Times New Roman" panose="02020603050405020304" pitchFamily="18" charset="0"/>
              </a:rPr>
              <a:t>Database:</a:t>
            </a:r>
            <a:r>
              <a:rPr lang="en-IN" dirty="0">
                <a:latin typeface="Times New Roman" panose="02020603050405020304" pitchFamily="18" charset="0"/>
                <a:cs typeface="Times New Roman" panose="02020603050405020304" pitchFamily="18" charset="0"/>
              </a:rPr>
              <a:t> PostgreSQL or MongoDB</a:t>
            </a:r>
          </a:p>
          <a:p>
            <a:r>
              <a:rPr lang="en-IN" b="1" dirty="0">
                <a:latin typeface="Times New Roman" panose="02020603050405020304" pitchFamily="18" charset="0"/>
                <a:cs typeface="Times New Roman" panose="02020603050405020304" pitchFamily="18" charset="0"/>
              </a:rPr>
              <a:t>Optional:</a:t>
            </a:r>
            <a:r>
              <a:rPr lang="en-IN" dirty="0">
                <a:latin typeface="Times New Roman" panose="02020603050405020304" pitchFamily="18" charset="0"/>
                <a:cs typeface="Times New Roman" panose="02020603050405020304" pitchFamily="18" charset="0"/>
              </a:rPr>
              <a:t> Docker (for deployment), Prometheus (for monitoring)</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marL="76200" indent="0">
              <a:buNone/>
            </a:pPr>
            <a:r>
              <a:rPr lang="en-IN" b="1" dirty="0">
                <a:latin typeface="Times New Roman" panose="02020603050405020304" pitchFamily="18" charset="0"/>
                <a:cs typeface="Times New Roman" panose="02020603050405020304" pitchFamily="18" charset="0"/>
              </a:rPr>
              <a:t>Hardware Requirements</a:t>
            </a:r>
          </a:p>
          <a:p>
            <a:r>
              <a:rPr lang="en-IN" b="1" dirty="0">
                <a:latin typeface="Times New Roman" panose="02020603050405020304" pitchFamily="18" charset="0"/>
                <a:cs typeface="Times New Roman" panose="02020603050405020304" pitchFamily="18" charset="0"/>
              </a:rPr>
              <a:t>Development Machine:</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16–32 GB RAM</a:t>
            </a:r>
          </a:p>
          <a:p>
            <a:pPr lvl="1"/>
            <a:r>
              <a:rPr lang="en-IN" dirty="0">
                <a:latin typeface="Times New Roman" panose="02020603050405020304" pitchFamily="18" charset="0"/>
                <a:cs typeface="Times New Roman" panose="02020603050405020304" pitchFamily="18" charset="0"/>
              </a:rPr>
              <a:t>GPU (e.g., NVIDIA RTX 3060 or better)</a:t>
            </a:r>
          </a:p>
          <a:p>
            <a:r>
              <a:rPr lang="en-IN" b="1" dirty="0">
                <a:latin typeface="Times New Roman" panose="02020603050405020304" pitchFamily="18" charset="0"/>
                <a:cs typeface="Times New Roman" panose="02020603050405020304" pitchFamily="18" charset="0"/>
              </a:rPr>
              <a:t>Production Server / Cloud GPU:</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NVIDIA A10 or A100 (for large-scale use)</a:t>
            </a:r>
          </a:p>
          <a:p>
            <a:pPr lvl="1"/>
            <a:r>
              <a:rPr lang="en-IN" dirty="0">
                <a:latin typeface="Times New Roman" panose="02020603050405020304" pitchFamily="18" charset="0"/>
                <a:cs typeface="Times New Roman" panose="02020603050405020304" pitchFamily="18" charset="0"/>
              </a:rPr>
              <a:t>32 GB+ RAM</a:t>
            </a:r>
          </a:p>
          <a:p>
            <a:pPr lvl="1"/>
            <a:r>
              <a:rPr lang="en-IN" dirty="0">
                <a:latin typeface="Times New Roman" panose="02020603050405020304" pitchFamily="18" charset="0"/>
                <a:cs typeface="Times New Roman" panose="02020603050405020304" pitchFamily="18" charset="0"/>
              </a:rPr>
              <a:t>SSD Storage (1–2 TB)</a:t>
            </a:r>
          </a:p>
          <a:p>
            <a:endParaRPr lang="en-IN" dirty="0"/>
          </a:p>
        </p:txBody>
      </p:sp>
    </p:spTree>
    <p:extLst>
      <p:ext uri="{BB962C8B-B14F-4D97-AF65-F5344CB8AC3E}">
        <p14:creationId xmlns:p14="http://schemas.microsoft.com/office/powerpoint/2010/main" val="2248209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77EEB-6D79-4DB6-A924-1EEF0A0394BB}"/>
              </a:ext>
            </a:extLst>
          </p:cNvPr>
          <p:cNvSpPr>
            <a:spLocks noGrp="1"/>
          </p:cNvSpPr>
          <p:nvPr>
            <p:ph type="title"/>
          </p:nvPr>
        </p:nvSpPr>
        <p:spPr/>
        <p:txBody>
          <a:bodyPr/>
          <a:lstStyle/>
          <a:p>
            <a:r>
              <a:rPr lang="en-IN" dirty="0"/>
              <a:t>Content</a:t>
            </a:r>
          </a:p>
        </p:txBody>
      </p:sp>
      <p:sp>
        <p:nvSpPr>
          <p:cNvPr id="3" name="Text Placeholder 2">
            <a:extLst>
              <a:ext uri="{FF2B5EF4-FFF2-40B4-BE49-F238E27FC236}">
                <a16:creationId xmlns:a16="http://schemas.microsoft.com/office/drawing/2014/main" id="{C40A29F2-A29F-4F9F-ABA5-15133151534C}"/>
              </a:ext>
            </a:extLst>
          </p:cNvPr>
          <p:cNvSpPr>
            <a:spLocks noGrp="1"/>
          </p:cNvSpPr>
          <p:nvPr>
            <p:ph type="body" idx="1"/>
          </p:nvPr>
        </p:nvSpPr>
        <p:spPr/>
        <p:txBody>
          <a:bodyPr/>
          <a:lstStyle/>
          <a:p>
            <a:pPr marL="495300" indent="-342900" algn="just">
              <a:lnSpc>
                <a:spcPct val="200000"/>
              </a:lnSpc>
              <a:spcBef>
                <a:spcPts val="0"/>
              </a:spcBef>
              <a:buFont typeface="Wingdings" panose="05000000000000000000" pitchFamily="2" charset="2"/>
              <a:buChar char="Ø"/>
            </a:pPr>
            <a:r>
              <a:rPr lang="en-US" b="1" u="sng" dirty="0">
                <a:latin typeface="Times New Roman" panose="02020603050405020304" pitchFamily="18" charset="0"/>
                <a:ea typeface="Cambria" panose="02040503050406030204" pitchFamily="18" charset="0"/>
                <a:cs typeface="Times New Roman" panose="02020603050405020304" pitchFamily="18" charset="0"/>
              </a:rPr>
              <a:t>Expected Outcomes:</a:t>
            </a:r>
          </a:p>
          <a:p>
            <a:pPr marL="495300" indent="-342900" algn="just">
              <a:lnSpc>
                <a:spcPct val="200000"/>
              </a:lnSpc>
              <a:spcBef>
                <a:spcPts val="0"/>
              </a:spcBef>
              <a:buFont typeface="Wingdings" panose="05000000000000000000" pitchFamily="2" charset="2"/>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90%+ accuracy in detecting incorrect or low-quality images</a:t>
            </a:r>
          </a:p>
          <a:p>
            <a:pPr marL="495300" indent="-342900" algn="just">
              <a:lnSpc>
                <a:spcPct val="200000"/>
              </a:lnSpc>
              <a:spcBef>
                <a:spcPts val="0"/>
              </a:spcBef>
              <a:buFont typeface="Wingdings" panose="05000000000000000000" pitchFamily="2" charset="2"/>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Drastic reduction in manual moderation time</a:t>
            </a:r>
          </a:p>
          <a:p>
            <a:pPr marL="495300" indent="-342900" algn="just">
              <a:lnSpc>
                <a:spcPct val="200000"/>
              </a:lnSpc>
              <a:spcBef>
                <a:spcPts val="0"/>
              </a:spcBef>
              <a:buFont typeface="Wingdings" panose="05000000000000000000" pitchFamily="2" charset="2"/>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Enhanced trust among buyers due to higher image reliability</a:t>
            </a:r>
          </a:p>
          <a:p>
            <a:pPr marL="495300" indent="-342900" algn="just">
              <a:lnSpc>
                <a:spcPct val="200000"/>
              </a:lnSpc>
              <a:spcBef>
                <a:spcPts val="0"/>
              </a:spcBef>
              <a:buFont typeface="Wingdings" panose="05000000000000000000" pitchFamily="2" charset="2"/>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Higher approval rate of seller products on first upload</a:t>
            </a:r>
          </a:p>
          <a:p>
            <a:pPr marL="495300" indent="-342900" algn="just">
              <a:lnSpc>
                <a:spcPct val="200000"/>
              </a:lnSpc>
              <a:spcBef>
                <a:spcPts val="0"/>
              </a:spcBef>
              <a:buFont typeface="Wingdings" panose="05000000000000000000" pitchFamily="2" charset="2"/>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Lower product return rates</a:t>
            </a:r>
          </a:p>
          <a:p>
            <a:endParaRPr lang="en-IN" dirty="0"/>
          </a:p>
        </p:txBody>
      </p:sp>
    </p:spTree>
    <p:extLst>
      <p:ext uri="{BB962C8B-B14F-4D97-AF65-F5344CB8AC3E}">
        <p14:creationId xmlns:p14="http://schemas.microsoft.com/office/powerpoint/2010/main" val="4088249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lnSpc>
                <a:spcPct val="200000"/>
              </a:lnSpc>
              <a:spcBef>
                <a:spcPts val="0"/>
              </a:spcBef>
              <a:buSzPct val="100000"/>
              <a:buFont typeface="Arial"/>
              <a:buNone/>
            </a:pPr>
            <a:r>
              <a:rPr lang="en-US" dirty="0">
                <a:latin typeface="Cambria" panose="02040503050406030204" pitchFamily="18" charset="0"/>
                <a:ea typeface="Cambria" panose="02040503050406030204" pitchFamily="18" charset="0"/>
              </a:rPr>
              <a:t>https://github.com/HMRAJ143/Image-correctness-for-a-product-on-marketplace.git</a:t>
            </a:r>
          </a:p>
        </p:txBody>
      </p:sp>
    </p:spTree>
    <p:extLst>
      <p:ext uri="{BB962C8B-B14F-4D97-AF65-F5344CB8AC3E}">
        <p14:creationId xmlns:p14="http://schemas.microsoft.com/office/powerpoint/2010/main" val="2856357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7FF38-A99D-4576-B19A-8568C87FA0BC}"/>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Timeline of the Project (Gantt Chart)</a:t>
            </a:r>
            <a:endParaRPr lang="en-IN" dirty="0"/>
          </a:p>
        </p:txBody>
      </p:sp>
      <p:sp>
        <p:nvSpPr>
          <p:cNvPr id="3" name="Text Placeholder 2">
            <a:extLst>
              <a:ext uri="{FF2B5EF4-FFF2-40B4-BE49-F238E27FC236}">
                <a16:creationId xmlns:a16="http://schemas.microsoft.com/office/drawing/2014/main" id="{5D367F44-BA73-4F4E-A819-5AECD9290EF5}"/>
              </a:ext>
            </a:extLst>
          </p:cNvPr>
          <p:cNvSpPr>
            <a:spLocks noGrp="1"/>
          </p:cNvSpPr>
          <p:nvPr>
            <p:ph type="body" idx="1"/>
          </p:nvPr>
        </p:nvSpPr>
        <p:spPr/>
        <p:txBody>
          <a:bodyPr/>
          <a:lstStyle/>
          <a:p>
            <a:endParaRPr lang="en-IN"/>
          </a:p>
        </p:txBody>
      </p:sp>
      <p:pic>
        <p:nvPicPr>
          <p:cNvPr id="4" name="Picture 3">
            <a:extLst>
              <a:ext uri="{FF2B5EF4-FFF2-40B4-BE49-F238E27FC236}">
                <a16:creationId xmlns:a16="http://schemas.microsoft.com/office/drawing/2014/main" id="{F27BADDC-33FC-4F8E-AA48-A48D81747C96}"/>
              </a:ext>
            </a:extLst>
          </p:cNvPr>
          <p:cNvPicPr>
            <a:picLocks noChangeAspect="1"/>
          </p:cNvPicPr>
          <p:nvPr/>
        </p:nvPicPr>
        <p:blipFill>
          <a:blip r:embed="rId2"/>
          <a:stretch>
            <a:fillRect/>
          </a:stretch>
        </p:blipFill>
        <p:spPr>
          <a:xfrm>
            <a:off x="918036" y="1235008"/>
            <a:ext cx="9722890" cy="4768985"/>
          </a:xfrm>
          <a:prstGeom prst="rect">
            <a:avLst/>
          </a:prstGeom>
        </p:spPr>
      </p:pic>
    </p:spTree>
    <p:extLst>
      <p:ext uri="{BB962C8B-B14F-4D97-AF65-F5344CB8AC3E}">
        <p14:creationId xmlns:p14="http://schemas.microsoft.com/office/powerpoint/2010/main" val="3567604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609600" indent="-457200">
              <a:spcBef>
                <a:spcPts val="0"/>
              </a:spcBef>
              <a:buAutoNum type="arabicPeriod"/>
            </a:pPr>
            <a:r>
              <a:rPr lang="en-US" dirty="0">
                <a:latin typeface="Cambria" panose="02040503050406030204" pitchFamily="18" charset="0"/>
                <a:ea typeface="Cambria" panose="02040503050406030204" pitchFamily="18" charset="0"/>
              </a:rPr>
              <a:t>A. </a:t>
            </a:r>
            <a:r>
              <a:rPr lang="en-US" dirty="0" err="1">
                <a:latin typeface="Cambria" panose="02040503050406030204" pitchFamily="18" charset="0"/>
                <a:ea typeface="Cambria" panose="02040503050406030204" pitchFamily="18" charset="0"/>
              </a:rPr>
              <a:t>Krizhevsky</a:t>
            </a:r>
            <a:r>
              <a:rPr lang="en-US" dirty="0">
                <a:latin typeface="Cambria" panose="02040503050406030204" pitchFamily="18" charset="0"/>
                <a:ea typeface="Cambria" panose="02040503050406030204" pitchFamily="18" charset="0"/>
              </a:rPr>
              <a:t>, I. </a:t>
            </a:r>
            <a:r>
              <a:rPr lang="en-US" dirty="0" err="1">
                <a:latin typeface="Cambria" panose="02040503050406030204" pitchFamily="18" charset="0"/>
                <a:ea typeface="Cambria" panose="02040503050406030204" pitchFamily="18" charset="0"/>
              </a:rPr>
              <a:t>Sutskever</a:t>
            </a:r>
            <a:r>
              <a:rPr lang="en-US" dirty="0">
                <a:latin typeface="Cambria" panose="02040503050406030204" pitchFamily="18" charset="0"/>
                <a:ea typeface="Cambria" panose="02040503050406030204" pitchFamily="18" charset="0"/>
              </a:rPr>
              <a:t>, and G. E. Hinton, “ImageNet classification with deep convolutional neural networks,” Communications of the ACM, vol. 60, no. 6, pp. 84–90, Jun. 2017.</a:t>
            </a:r>
          </a:p>
          <a:p>
            <a:pPr marL="609600" indent="-457200">
              <a:spcBef>
                <a:spcPts val="0"/>
              </a:spcBef>
              <a:buAutoNum type="arabicPeriod"/>
            </a:pPr>
            <a:r>
              <a:rPr lang="en-US" dirty="0">
                <a:latin typeface="Cambria" panose="02040503050406030204" pitchFamily="18" charset="0"/>
                <a:ea typeface="Cambria" panose="02040503050406030204" pitchFamily="18" charset="0"/>
              </a:rPr>
              <a:t> J. Redmon and A. Farhadi, “YOLOv3: An Incremental Improvement,” </a:t>
            </a:r>
            <a:r>
              <a:rPr lang="en-US" dirty="0" err="1">
                <a:latin typeface="Cambria" panose="02040503050406030204" pitchFamily="18" charset="0"/>
                <a:ea typeface="Cambria" panose="02040503050406030204" pitchFamily="18" charset="0"/>
              </a:rPr>
              <a:t>arXiv</a:t>
            </a:r>
            <a:r>
              <a:rPr lang="en-US" dirty="0">
                <a:latin typeface="Cambria" panose="02040503050406030204" pitchFamily="18" charset="0"/>
                <a:ea typeface="Cambria" panose="02040503050406030204" pitchFamily="18" charset="0"/>
              </a:rPr>
              <a:t> preprint arXiv:1804.02767, Apr. 2018.3.</a:t>
            </a:r>
          </a:p>
          <a:p>
            <a:pPr marL="609600" indent="-457200">
              <a:spcBef>
                <a:spcPts val="0"/>
              </a:spcBef>
              <a:buAutoNum type="arabicPeriod"/>
            </a:pPr>
            <a:r>
              <a:rPr lang="en-US" dirty="0">
                <a:latin typeface="Cambria" panose="02040503050406030204" pitchFamily="18" charset="0"/>
                <a:ea typeface="Cambria" panose="02040503050406030204" pitchFamily="18" charset="0"/>
              </a:rPr>
              <a:t> A. </a:t>
            </a:r>
            <a:r>
              <a:rPr lang="en-US" dirty="0" err="1">
                <a:latin typeface="Cambria" panose="02040503050406030204" pitchFamily="18" charset="0"/>
                <a:ea typeface="Cambria" panose="02040503050406030204" pitchFamily="18" charset="0"/>
              </a:rPr>
              <a:t>Dosovitskiy</a:t>
            </a:r>
            <a:r>
              <a:rPr lang="en-US" dirty="0">
                <a:latin typeface="Cambria" panose="02040503050406030204" pitchFamily="18" charset="0"/>
                <a:ea typeface="Cambria" panose="02040503050406030204" pitchFamily="18" charset="0"/>
              </a:rPr>
              <a:t> et al., “An Image is Worth 16x16 Words: Transformers for Image Recognition at Scale,” </a:t>
            </a:r>
            <a:r>
              <a:rPr lang="en-US" dirty="0" err="1">
                <a:latin typeface="Cambria" panose="02040503050406030204" pitchFamily="18" charset="0"/>
                <a:ea typeface="Cambria" panose="02040503050406030204" pitchFamily="18" charset="0"/>
              </a:rPr>
              <a:t>arXiv</a:t>
            </a:r>
            <a:r>
              <a:rPr lang="en-US" dirty="0">
                <a:latin typeface="Cambria" panose="02040503050406030204" pitchFamily="18" charset="0"/>
                <a:ea typeface="Cambria" panose="02040503050406030204" pitchFamily="18" charset="0"/>
              </a:rPr>
              <a:t> preprint arXiv:2010.11929, Oct. 2020.4.</a:t>
            </a:r>
          </a:p>
          <a:p>
            <a:pPr marL="609600" indent="-457200">
              <a:spcBef>
                <a:spcPts val="0"/>
              </a:spcBef>
              <a:buAutoNum type="arabicPeriod"/>
            </a:pPr>
            <a:r>
              <a:rPr lang="en-US" dirty="0">
                <a:latin typeface="Cambria" panose="02040503050406030204" pitchFamily="18" charset="0"/>
                <a:ea typeface="Cambria" panose="02040503050406030204" pitchFamily="18" charset="0"/>
              </a:rPr>
              <a:t> A. Radford et al., “Learning transferable visual models from natural language supervision,” in Proceedings of the International Conference on Machine Learning (ICML), 2021, pp. 8748–8763.</a:t>
            </a: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424</TotalTime>
  <Words>1014</Words>
  <Application>Microsoft Office PowerPoint</Application>
  <PresentationFormat>Widescreen</PresentationFormat>
  <Paragraphs>143</Paragraphs>
  <Slides>15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Cambria</vt:lpstr>
      <vt:lpstr>Times New Roman</vt:lpstr>
      <vt:lpstr>Verdana</vt:lpstr>
      <vt:lpstr>Wingdings</vt:lpstr>
      <vt:lpstr>Bioinformatics</vt:lpstr>
      <vt:lpstr>Image Correctness For a Product on Marketplace</vt:lpstr>
      <vt:lpstr>Abstract:</vt:lpstr>
      <vt:lpstr>Objective:</vt:lpstr>
      <vt:lpstr>Existing Methods and Drawbacks:</vt:lpstr>
      <vt:lpstr>Proposed Method and Feasibility:</vt:lpstr>
      <vt:lpstr>Feasibility:</vt:lpstr>
      <vt:lpstr>System Architecture:</vt:lpstr>
      <vt:lpstr>System Modules:</vt:lpstr>
      <vt:lpstr>Problem Statement: </vt:lpstr>
      <vt:lpstr>Hardware and Software details:</vt:lpstr>
      <vt:lpstr>Content</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B Deekshitha</cp:lastModifiedBy>
  <cp:revision>46</cp:revision>
  <dcterms:modified xsi:type="dcterms:W3CDTF">2025-09-09T14:17:01Z</dcterms:modified>
</cp:coreProperties>
</file>