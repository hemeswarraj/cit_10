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9" r:id="rId3"/>
    <p:sldId id="257" r:id="rId4"/>
    <p:sldId id="276" r:id="rId5"/>
    <p:sldId id="277" r:id="rId6"/>
    <p:sldId id="278" r:id="rId7"/>
    <p:sldId id="279" r:id="rId8"/>
    <p:sldId id="280" r:id="rId9"/>
    <p:sldId id="273" r:id="rId10"/>
    <p:sldId id="283" r:id="rId11"/>
    <p:sldId id="281" r:id="rId12"/>
    <p:sldId id="282" r:id="rId13"/>
    <p:sldId id="286" r:id="rId14"/>
    <p:sldId id="268" r:id="rId15"/>
    <p:sldId id="284" r:id="rId16"/>
    <p:sldId id="265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eshwar Raj P.R." userId="1a3a008c94013792" providerId="LiveId" clId="{15719D9F-7D50-4DC6-8B44-9B947652958B}"/>
    <pc:docChg chg="custSel modSld">
      <pc:chgData name="Hemeshwar Raj P.R." userId="1a3a008c94013792" providerId="LiveId" clId="{15719D9F-7D50-4DC6-8B44-9B947652958B}" dt="2025-08-20T05:13:59.556" v="21" actId="20577"/>
      <pc:docMkLst>
        <pc:docMk/>
      </pc:docMkLst>
      <pc:sldChg chg="modSp mod">
        <pc:chgData name="Hemeshwar Raj P.R." userId="1a3a008c94013792" providerId="LiveId" clId="{15719D9F-7D50-4DC6-8B44-9B947652958B}" dt="2025-08-20T05:13:59.556" v="21" actId="20577"/>
        <pc:sldMkLst>
          <pc:docMk/>
          <pc:sldMk cId="0" sldId="256"/>
        </pc:sldMkLst>
        <pc:spChg chg="mod">
          <ac:chgData name="Hemeshwar Raj P.R." userId="1a3a008c94013792" providerId="LiveId" clId="{15719D9F-7D50-4DC6-8B44-9B947652958B}" dt="2025-08-20T05:13:59.556" v="21" actId="20577"/>
          <ac:spMkLst>
            <pc:docMk/>
            <pc:sldMk cId="0" sldId="256"/>
            <ac:spMk id="87" creationId="{00000000-0000-0000-0000-000000000000}"/>
          </ac:spMkLst>
        </pc:spChg>
      </pc:sldChg>
      <pc:sldChg chg="modSp mod">
        <pc:chgData name="Hemeshwar Raj P.R." userId="1a3a008c94013792" providerId="LiveId" clId="{15719D9F-7D50-4DC6-8B44-9B947652958B}" dt="2025-08-19T18:39:51.365" v="7"/>
        <pc:sldMkLst>
          <pc:docMk/>
          <pc:sldMk cId="0" sldId="265"/>
        </pc:sldMkLst>
        <pc:spChg chg="mod">
          <ac:chgData name="Hemeshwar Raj P.R." userId="1a3a008c94013792" providerId="LiveId" clId="{15719D9F-7D50-4DC6-8B44-9B947652958B}" dt="2025-08-19T18:39:51.365" v="7"/>
          <ac:spMkLst>
            <pc:docMk/>
            <pc:sldMk cId="0" sldId="265"/>
            <ac:spMk id="145" creationId="{00000000-0000-0000-0000-000000000000}"/>
          </ac:spMkLst>
        </pc:spChg>
      </pc:sldChg>
      <pc:sldChg chg="modSp mod">
        <pc:chgData name="Hemeshwar Raj P.R." userId="1a3a008c94013792" providerId="LiveId" clId="{15719D9F-7D50-4DC6-8B44-9B947652958B}" dt="2025-08-19T18:38:55.426" v="6" actId="20577"/>
        <pc:sldMkLst>
          <pc:docMk/>
          <pc:sldMk cId="2856357337" sldId="268"/>
        </pc:sldMkLst>
        <pc:spChg chg="mod">
          <ac:chgData name="Hemeshwar Raj P.R." userId="1a3a008c94013792" providerId="LiveId" clId="{15719D9F-7D50-4DC6-8B44-9B947652958B}" dt="2025-08-19T18:38:55.426" v="6" actId="20577"/>
          <ac:spMkLst>
            <pc:docMk/>
            <pc:sldMk cId="2856357337" sldId="26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sz="1600" dirty="0"/>
              <a:t>Image Correctness For </a:t>
            </a:r>
            <a:r>
              <a:rPr lang="en-IN" sz="1600"/>
              <a:t>a Product </a:t>
            </a:r>
            <a:r>
              <a:rPr lang="en-IN" sz="1600" dirty="0"/>
              <a:t>on Marketplaces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  </a:t>
            </a:r>
            <a:r>
              <a:rPr lang="en-IN" sz="1600" dirty="0"/>
              <a:t>CIT_10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677700" y="3086079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US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Ms.Shivabasamma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Reviewer 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Mr.Tanveer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Ahmed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854632182"/>
              </p:ext>
            </p:extLst>
          </p:nvPr>
        </p:nvGraphicFramePr>
        <p:xfrm>
          <a:off x="553347" y="2721840"/>
          <a:ext cx="5418675" cy="14630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59120" y="11851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790468" y="4730122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err="1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DrS</a:t>
            </a: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 </a:t>
            </a:r>
            <a:r>
              <a:rPr lang="en-US" sz="1800" b="1" dirty="0" err="1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Anandaraj</a:t>
            </a: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Sir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43DEA42-318C-4C31-8E68-0F4B86CB7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022165"/>
              </p:ext>
            </p:extLst>
          </p:nvPr>
        </p:nvGraphicFramePr>
        <p:xfrm>
          <a:off x="974849" y="2958675"/>
          <a:ext cx="5150303" cy="1562100"/>
        </p:xfrm>
        <a:graphic>
          <a:graphicData uri="http://schemas.openxmlformats.org/drawingml/2006/table">
            <a:tbl>
              <a:tblPr firstRow="1" bandRow="1"/>
              <a:tblGrid>
                <a:gridCol w="2487786">
                  <a:extLst>
                    <a:ext uri="{9D8B030D-6E8A-4147-A177-3AD203B41FA5}">
                      <a16:colId xmlns:a16="http://schemas.microsoft.com/office/drawing/2014/main" val="3102227351"/>
                    </a:ext>
                  </a:extLst>
                </a:gridCol>
                <a:gridCol w="2662517">
                  <a:extLst>
                    <a:ext uri="{9D8B030D-6E8A-4147-A177-3AD203B41FA5}">
                      <a16:colId xmlns:a16="http://schemas.microsoft.com/office/drawing/2014/main" val="2243004137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63774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20221CIT0006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 HEMESWAR RAJ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968155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20221CIT0047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MANASA 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92478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20221CIT0048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DEEKSHITHA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236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Organization: </a:t>
            </a: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Online E-Commerce Websites(</a:t>
            </a:r>
            <a:r>
              <a:rPr lang="en-US" sz="20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Amazon,Myntra,Flipkart,Ajio</a:t>
            </a: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: </a:t>
            </a: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Name: Wireless Bluetooth Headphones – Noise Cancelling Over-Ear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Category: Electronics → Audio Devices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high-quality sound with our Wireless Bluetooth Headphones designed for comfort and clarity. Featuring active noise cancellation (ANC), long-lasting 30-hour battery life, and cushioned over-ear design, these headphones are perfect for music, calls, and gaming</a:t>
            </a:r>
            <a:r>
              <a:rPr lang="en-US" dirty="0"/>
              <a:t>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16109-550F-42EA-9A41-A8A2E328B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518" y="2603838"/>
            <a:ext cx="537198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automated, scalable image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 or irrelevant product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moderation: slow, costly, and error-prone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000" b="1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marketplaces face issues with incorrect, low-quality, or non-compliant product images, leading to poor customer experience, higher return rates, and reduced platform credibility. An automated system is needed to ensure image correctness and compliance.</a:t>
            </a:r>
            <a:endParaRPr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8EC0-8BE1-4544-89DA-B5C0FD31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24F2B-B4A5-4D8D-BDD4-D591D2780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</a:p>
          <a:p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product images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to product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and standard-compliant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from watermarks, text, or policy violations</a:t>
            </a:r>
          </a:p>
          <a:p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58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CBD6-66C4-4C52-8A85-DE068FE3A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67870-721B-4CCF-82A7-AA97C1C2C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Features of the Proposed System: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u="sng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Relevance Check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product image matches the title &amp; description.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 Validation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Verifies white/plain background as per marketplace standards.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vs. Multiple Product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Confirms only one product is shown (unless bundles).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&amp; Watermark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Flags watermarks, logos, or promotional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 Checks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Validates clarity, brightness, resolution, and cropping.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Image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Prevents reuse of the same image for multiple listings.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3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12A4-05F0-466D-984C-CFE5D252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30E3A-8FC8-426D-863D-BBA587617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D141D-6088-47DA-8FA0-3FFEAD40B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526" y="1528944"/>
            <a:ext cx="3686689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8373-10A1-4012-8C98-ECF002A0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A4754-BD6F-4CF4-BE66-84778E74F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5FEA8A6-D6D6-4D69-A451-2756ADC45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944752"/>
              </p:ext>
            </p:extLst>
          </p:nvPr>
        </p:nvGraphicFramePr>
        <p:xfrm>
          <a:off x="1619624" y="2621578"/>
          <a:ext cx="9335246" cy="2209800"/>
        </p:xfrm>
        <a:graphic>
          <a:graphicData uri="http://schemas.openxmlformats.org/drawingml/2006/table">
            <a:tbl>
              <a:tblPr firstRow="1" bandRow="1"/>
              <a:tblGrid>
                <a:gridCol w="4667623">
                  <a:extLst>
                    <a:ext uri="{9D8B030D-6E8A-4147-A177-3AD203B41FA5}">
                      <a16:colId xmlns:a16="http://schemas.microsoft.com/office/drawing/2014/main" val="413713061"/>
                    </a:ext>
                  </a:extLst>
                </a:gridCol>
                <a:gridCol w="4667623">
                  <a:extLst>
                    <a:ext uri="{9D8B030D-6E8A-4147-A177-3AD203B41FA5}">
                      <a16:colId xmlns:a16="http://schemas.microsoft.com/office/drawing/2014/main" val="7028510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	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1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TensorFlow, </a:t>
                      </a:r>
                      <a:r>
                        <a:rPr lang="en-IN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3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Detection &amp;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725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</a:t>
                      </a:r>
                      <a:r>
                        <a:rPr lang="en-IN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OpenCV, Pillow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55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Metrices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 (Accuracy, Precision)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992246"/>
                  </a:ext>
                </a:extLst>
              </a:tr>
              <a:tr h="271333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&amp; Deployment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Jupyter</a:t>
                      </a: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Notebook / Google </a:t>
                      </a:r>
                      <a:r>
                        <a:rPr lang="en-IN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261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3237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15F0-45D4-4420-9ACD-D8FA6A51A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B0811-BB1B-4F23-9CCC-9275174A9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u="sng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Methodology:</a:t>
            </a:r>
          </a:p>
          <a:p>
            <a:endParaRPr lang="en-US" sz="2000" b="1" u="sng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creation (fashion, electronics, grocery,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(Accuracy, Precision, Recall, F1-score)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194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Text Detection and Removal: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 OCR to detect any embedded text or watermark.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Flag if policy-violating text is found.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Engine: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validation rules (e.g., no multiple items, minimum brightness, correct aspect ratio).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rule-based + AI model scores to accept/reject the image.</a:t>
            </a:r>
          </a:p>
          <a:p>
            <a:pPr marL="7620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Rate (e.g., wrongly rejected good image)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FA31D-B66F-4587-9602-E4010797F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C8013-9299-4545-9848-09274A61B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Challenges: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BDB914-DA5D-49E6-9133-242487291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026189"/>
              </p:ext>
            </p:extLst>
          </p:nvPr>
        </p:nvGraphicFramePr>
        <p:xfrm>
          <a:off x="1754094" y="2360207"/>
          <a:ext cx="8128000" cy="3332480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8821454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1274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129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Variability in Image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product categories may need custom image rules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139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Presence of Multi-Objects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Images may contain accessories or multiple products (bundled offers)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457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Handling Watermarks/Logos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Detecting brand-specific or faint watermarks can be difficult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145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Language and Text Variability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OCR must detect text in multiple languages/fonts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059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Generalization of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Avoid overfitting to a few product types; ensure it works across categories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62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False Positives/Negatives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balance is needed; shouldn't wrongly reject valid images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400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739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77EEB-6D79-4DB6-A924-1EEF0A03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A29F2-A29F-4F9F-ABA5-151331515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Expected Outcomes: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90%+ accuracy in detecting incorrect or low-quality images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Drastic reduction in manual moderation time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Enhanced trust among buyers due to higher image reliability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Higher approval rate of seller products on first upload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Lower product return rates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249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E68A-E997-4A89-8D02-39139271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47744"/>
            <a:ext cx="10668000" cy="487500"/>
          </a:xfrm>
        </p:spPr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F366C-579E-4798-9BAF-867EDC439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image + product description (using CLIP/Transformers) for stronger validation.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Seller Feedback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Notify sellers instantly during upload with corrective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reasons for rejection (e.g., “Multiple items detected” or “Low resolution”).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Scalability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Optimize system for large-scale marketplace traffic.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Cross-Language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Handle text detection in multiple languages.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Correction Suggestions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Recommend fixes (e.g., cropping, background removal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23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42851-C0A9-42CB-B491-D891DC37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CF50C-7495-4D0D-818C-D180DACD2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</a:t>
            </a:r>
            <a:r>
              <a:rPr lang="en-US" b="1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online marketplaces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Amazon, Flipkart, or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Meesho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sellers frequently upload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incorrect, misleading, or poor-quality images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products. These issues cause: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Customer Experience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Buyers receive products that don’t match the images.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Return Rates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Misleading images lead to higher product returns.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Platform Credibility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Customers lose trust in the marketplace.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Moderation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Manual checking of images is slow, costly, and unscalable.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critical need for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image correctness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verify product images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relevance, quality, and compliance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they go live on the platform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458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https://github.com/HMRAJ143/Image-correctness-for-a-product-on-marketplace.git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FF38-A99D-4576-B19A-8568C87F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67F44-BA73-4F4E-A819-5AECD9290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BADDC-33FC-4F8E-AA48-A48D81747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36" y="1235008"/>
            <a:ext cx="9722890" cy="476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04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Krizhevsky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I.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Sutskever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and G. E. Hinton, “ImageNet classification with deep convolutional neural networks,” Communications of the ACM, vol. 60, no. 6, pp. 84–90, Jun. 2017.</a:t>
            </a: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J. Redmon and A. Farhadi, “YOLOv3: An Incremental Improvement,”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preprint arXiv:1804.02767, Apr. 2018.3.</a:t>
            </a: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Dosovitskiy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et al., “An Image is Worth 16x16 Words: Transformers for Image Recognition at Scale,”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preprint arXiv:2010.11929, Oct. 2020.4.</a:t>
            </a:r>
          </a:p>
          <a:p>
            <a:pPr marL="609600" indent="-457200">
              <a:spcBef>
                <a:spcPts val="0"/>
              </a:spcBef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A. Radford et al., “Learning transferable visual models from natural language supervision,” in Proceedings of the International Conference on Machine Learning (ICML), 2021, pp. 8748–8763.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1018</Words>
  <Application>Microsoft Office PowerPoint</Application>
  <PresentationFormat>Widescreen</PresentationFormat>
  <Paragraphs>144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Bookman Old Style</vt:lpstr>
      <vt:lpstr>Cambria</vt:lpstr>
      <vt:lpstr>Times New Roman</vt:lpstr>
      <vt:lpstr>Verdana</vt:lpstr>
      <vt:lpstr>Wingdings</vt:lpstr>
      <vt:lpstr>Bioinformatics</vt:lpstr>
      <vt:lpstr>Image Correctness For a Product on Marketplaces</vt:lpstr>
      <vt:lpstr>Problem Statement Number: </vt:lpstr>
      <vt:lpstr>Content</vt:lpstr>
      <vt:lpstr>Content</vt:lpstr>
      <vt:lpstr>Content</vt:lpstr>
      <vt:lpstr>Content</vt:lpstr>
      <vt:lpstr>Content</vt:lpstr>
      <vt:lpstr>Content</vt:lpstr>
      <vt:lpstr>Content</vt:lpstr>
      <vt:lpstr>Content</vt:lpstr>
      <vt:lpstr>Content</vt:lpstr>
      <vt:lpstr>Content</vt:lpstr>
      <vt:lpstr>Analysis of Problem Statement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Hemeshwar Raj P.R.</cp:lastModifiedBy>
  <cp:revision>44</cp:revision>
  <dcterms:modified xsi:type="dcterms:W3CDTF">2025-08-20T05:14:09Z</dcterms:modified>
</cp:coreProperties>
</file>